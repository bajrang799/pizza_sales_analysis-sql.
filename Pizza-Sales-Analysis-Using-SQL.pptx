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Hubot Sans"/>
      <p:regular r:id="rId201314"/>
    </p:embeddedFont>
    <p:embeddedFont>
      <p:font typeface="Hubot Sans SemiBold"/>
      <p:regular r:id="rId201315"/>
    </p:embeddedFont>
    <p:embeddedFont>
      <p:font typeface="Hubot Sans Bold"/>
      <p:regular r:id="rId201316"/>
    </p:embeddedFont>
    <p:embeddedFont>
      <p:font typeface="Hubot Sans Black"/>
      <p:regular r:id="rId201317"/>
    </p:embeddedFont>
    <p:embeddedFont>
      <p:font typeface="Roboto Condensed"/>
      <p:regular r:id="rId201318"/>
    </p:embeddedFont>
    <p:embeddedFont>
      <p:font typeface="Roboto Condensed SemiBold"/>
      <p:regular r:id="rId201319"/>
    </p:embeddedFont>
    <p:embeddedFont>
      <p:font typeface="Roboto Condensed Bold"/>
      <p:regular r:id="rId201320"/>
    </p:embeddedFont>
    <p:embeddedFont>
      <p:font typeface="Roboto Condensed Black"/>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D0F"/>
          </a:solidFill>
          <a:ln/>
        </p:spPr>
      </p:sp>
      <p:sp>
        <p:nvSpPr>
          <p:cNvPr id="3" name="Shape 1"/>
          <p:cNvSpPr/>
          <p:nvPr/>
        </p:nvSpPr>
        <p:spPr>
          <a:xfrm>
            <a:off x="0" y="0"/>
            <a:ext cx="12191695" cy="6858000"/>
          </a:xfrm>
          <a:prstGeom prst="rect">
            <a:avLst/>
          </a:prstGeom>
          <a:solidFill>
            <a:srgbClr val="E8E8E3"/>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image" Target="../media/image-6-1.png"/><Relationship Id="rId8" Type="http://schemas.openxmlformats.org/officeDocument/2006/relationships/image" Target="../media/image-6-2.sv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2.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7-2.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slideLayout" Target="../slideLayouts/slideLayout2.xml"/><Relationship Id="rId1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137866"/>
            <a:ext cx="6296860"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0C0D0F"/>
                </a:solidFill>
                <a:latin typeface="Hubot Sans Bold" pitchFamily="34" charset="0"/>
                <a:ea typeface="Hubot Sans Bold" pitchFamily="34" charset="-122"/>
                <a:cs typeface="Hubot Sans Bold" pitchFamily="34" charset="-120"/>
              </a:rPr>
              <a:t>PIZZA SALES ANALYSIS USING SQL</a:t>
            </a:r>
            <a:endParaRPr lang="en-US" sz="3250" dirty="0"/>
          </a:p>
        </p:txBody>
      </p:sp>
      <p:sp>
        <p:nvSpPr>
          <p:cNvPr id="4" name="Text 1"/>
          <p:cNvSpPr/>
          <p:nvPr/>
        </p:nvSpPr>
        <p:spPr>
          <a:xfrm>
            <a:off x="661475" y="3419376"/>
            <a:ext cx="629686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55575A"/>
                </a:solidFill>
                <a:latin typeface="Roboto Condensed" pitchFamily="34" charset="0"/>
                <a:ea typeface="Roboto Condensed" pitchFamily="34" charset="-122"/>
                <a:cs typeface="Roboto Condensed" pitchFamily="34" charset="-120"/>
              </a:rPr>
              <a:t>A complete SQL project covering basic, intermediate, and advanced business questions — turning transactional pizza data into actionable insights.</a:t>
            </a:r>
            <a:endParaRPr lang="en-US" sz="1300" dirty="0"/>
          </a:p>
        </p:txBody>
      </p:sp>
      <p:sp>
        <p:nvSpPr>
          <p:cNvPr id="5" name="Shape 2"/>
          <p:cNvSpPr/>
          <p:nvPr/>
        </p:nvSpPr>
        <p:spPr>
          <a:xfrm>
            <a:off x="661475" y="4134644"/>
            <a:ext cx="1792739" cy="251420"/>
          </a:xfrm>
          <a:prstGeom prst="roundRect">
            <a:avLst>
              <a:gd name="adj" fmla="val 7894"/>
            </a:avLst>
          </a:prstGeom>
          <a:solidFill>
            <a:srgbClr val="E7E7E4"/>
          </a:solidFill>
          <a:ln/>
        </p:spPr>
      </p:sp>
      <p:sp>
        <p:nvSpPr>
          <p:cNvPr id="6" name="Text 3"/>
          <p:cNvSpPr/>
          <p:nvPr/>
        </p:nvSpPr>
        <p:spPr>
          <a:xfrm>
            <a:off x="760691" y="4184253"/>
            <a:ext cx="2203891" cy="152202"/>
          </a:xfrm>
          <a:prstGeom prst="rect">
            <a:avLst/>
          </a:prstGeom>
          <a:noFill/>
          <a:ln/>
        </p:spPr>
        <p:txBody>
          <a:bodyPr wrap="none" lIns="0" tIns="0" rIns="0" bIns="0" rtlCol="0" anchor="t"/>
          <a:lstStyle/>
          <a:p>
            <a:pPr algn="l" indent="0" marL="0">
              <a:lnSpc>
                <a:spcPct val="96000"/>
              </a:lnSpc>
              <a:buNone/>
            </a:pPr>
            <a:r>
              <a:rPr lang="en-US" sz="1000" dirty="0">
                <a:solidFill>
                  <a:srgbClr val="55575A"/>
                </a:solidFill>
                <a:latin typeface="Roboto Condensed" pitchFamily="34" charset="0"/>
                <a:ea typeface="Roboto Condensed" pitchFamily="34" charset="-122"/>
                <a:cs typeface="Roboto Condensed" pitchFamily="34" charset="-120"/>
              </a:rPr>
              <a:t>PRESENTER: BAJRANG MAHLI</a:t>
            </a:r>
            <a:endParaRPr lang="en-US" sz="1000" dirty="0"/>
          </a:p>
        </p:txBody>
      </p:sp>
      <p:sp>
        <p:nvSpPr>
          <p:cNvPr id="7" name="Shape 4"/>
          <p:cNvSpPr/>
          <p:nvPr/>
        </p:nvSpPr>
        <p:spPr>
          <a:xfrm>
            <a:off x="2536861" y="4134644"/>
            <a:ext cx="409466" cy="251420"/>
          </a:xfrm>
          <a:prstGeom prst="roundRect">
            <a:avLst>
              <a:gd name="adj" fmla="val 7894"/>
            </a:avLst>
          </a:prstGeom>
          <a:noFill/>
          <a:ln w="6350">
            <a:solidFill>
              <a:srgbClr val="1E1E1A"/>
            </a:solidFill>
            <a:prstDash val="solid"/>
          </a:ln>
        </p:spPr>
      </p:sp>
      <p:sp>
        <p:nvSpPr>
          <p:cNvPr id="8" name="Text 5"/>
          <p:cNvSpPr/>
          <p:nvPr/>
        </p:nvSpPr>
        <p:spPr>
          <a:xfrm>
            <a:off x="2636077" y="4184253"/>
            <a:ext cx="820618" cy="152202"/>
          </a:xfrm>
          <a:prstGeom prst="rect">
            <a:avLst/>
          </a:prstGeom>
          <a:noFill/>
          <a:ln/>
        </p:spPr>
        <p:txBody>
          <a:bodyPr wrap="none" lIns="0" tIns="0" rIns="0" bIns="0" rtlCol="0" anchor="t"/>
          <a:lstStyle/>
          <a:p>
            <a:pPr algn="l" indent="0" marL="0">
              <a:lnSpc>
                <a:spcPct val="96000"/>
              </a:lnSpc>
              <a:buNone/>
            </a:pPr>
            <a:r>
              <a:rPr lang="en-US" sz="1000" dirty="0">
                <a:solidFill>
                  <a:srgbClr val="1E1E1A"/>
                </a:solidFill>
                <a:latin typeface="Roboto Condensed" pitchFamily="34" charset="0"/>
                <a:ea typeface="Roboto Condensed" pitchFamily="34" charset="-122"/>
                <a:cs typeface="Roboto Condensed" pitchFamily="34" charset="-120"/>
              </a:rPr>
              <a:t>SQL</a:t>
            </a:r>
            <a:endParaRPr lang="en-US" sz="1000" dirty="0"/>
          </a:p>
        </p:txBody>
      </p:sp>
      <p:sp>
        <p:nvSpPr>
          <p:cNvPr id="9" name="Shape 6"/>
          <p:cNvSpPr/>
          <p:nvPr/>
        </p:nvSpPr>
        <p:spPr>
          <a:xfrm>
            <a:off x="3028973" y="4134644"/>
            <a:ext cx="525549" cy="251420"/>
          </a:xfrm>
          <a:prstGeom prst="roundRect">
            <a:avLst>
              <a:gd name="adj" fmla="val 7894"/>
            </a:avLst>
          </a:prstGeom>
          <a:noFill/>
          <a:ln w="6350">
            <a:solidFill>
              <a:srgbClr val="1E1E1A"/>
            </a:solidFill>
            <a:prstDash val="solid"/>
          </a:ln>
        </p:spPr>
      </p:sp>
      <p:sp>
        <p:nvSpPr>
          <p:cNvPr id="10" name="Text 7"/>
          <p:cNvSpPr/>
          <p:nvPr/>
        </p:nvSpPr>
        <p:spPr>
          <a:xfrm>
            <a:off x="3128190" y="4184253"/>
            <a:ext cx="936701" cy="152202"/>
          </a:xfrm>
          <a:prstGeom prst="rect">
            <a:avLst/>
          </a:prstGeom>
          <a:noFill/>
          <a:ln/>
        </p:spPr>
        <p:txBody>
          <a:bodyPr wrap="none" lIns="0" tIns="0" rIns="0" bIns="0" rtlCol="0" anchor="t"/>
          <a:lstStyle/>
          <a:p>
            <a:pPr algn="l" indent="0" marL="0">
              <a:lnSpc>
                <a:spcPct val="96000"/>
              </a:lnSpc>
              <a:buNone/>
            </a:pPr>
            <a:r>
              <a:rPr lang="en-US" sz="1000" dirty="0">
                <a:solidFill>
                  <a:srgbClr val="1E1E1A"/>
                </a:solidFill>
                <a:latin typeface="Roboto Condensed" pitchFamily="34" charset="0"/>
                <a:ea typeface="Roboto Condensed" pitchFamily="34" charset="-122"/>
                <a:cs typeface="Roboto Condensed" pitchFamily="34" charset="-120"/>
              </a:rPr>
              <a:t>JOINS</a:t>
            </a:r>
            <a:endParaRPr lang="en-US" sz="1000" dirty="0"/>
          </a:p>
        </p:txBody>
      </p:sp>
      <p:sp>
        <p:nvSpPr>
          <p:cNvPr id="11" name="Shape 8"/>
          <p:cNvSpPr/>
          <p:nvPr/>
        </p:nvSpPr>
        <p:spPr>
          <a:xfrm>
            <a:off x="3637169" y="4134644"/>
            <a:ext cx="975693" cy="251420"/>
          </a:xfrm>
          <a:prstGeom prst="roundRect">
            <a:avLst>
              <a:gd name="adj" fmla="val 7894"/>
            </a:avLst>
          </a:prstGeom>
          <a:noFill/>
          <a:ln w="6350">
            <a:solidFill>
              <a:srgbClr val="1E1E1A"/>
            </a:solidFill>
            <a:prstDash val="solid"/>
          </a:ln>
        </p:spPr>
      </p:sp>
      <p:sp>
        <p:nvSpPr>
          <p:cNvPr id="12" name="Text 9"/>
          <p:cNvSpPr/>
          <p:nvPr/>
        </p:nvSpPr>
        <p:spPr>
          <a:xfrm>
            <a:off x="3736385" y="4184253"/>
            <a:ext cx="1386845" cy="152202"/>
          </a:xfrm>
          <a:prstGeom prst="rect">
            <a:avLst/>
          </a:prstGeom>
          <a:noFill/>
          <a:ln/>
        </p:spPr>
        <p:txBody>
          <a:bodyPr wrap="none" lIns="0" tIns="0" rIns="0" bIns="0" rtlCol="0" anchor="t"/>
          <a:lstStyle/>
          <a:p>
            <a:pPr algn="l" indent="0" marL="0">
              <a:lnSpc>
                <a:spcPct val="96000"/>
              </a:lnSpc>
              <a:buNone/>
            </a:pPr>
            <a:r>
              <a:rPr lang="en-US" sz="1000" dirty="0">
                <a:solidFill>
                  <a:srgbClr val="1E1E1A"/>
                </a:solidFill>
                <a:latin typeface="Roboto Condensed" pitchFamily="34" charset="0"/>
                <a:ea typeface="Roboto Condensed" pitchFamily="34" charset="-122"/>
                <a:cs typeface="Roboto Condensed" pitchFamily="34" charset="-120"/>
              </a:rPr>
              <a:t>AGGREGATION</a:t>
            </a:r>
            <a:endParaRPr lang="en-US" sz="1000" dirty="0"/>
          </a:p>
        </p:txBody>
      </p:sp>
      <p:sp>
        <p:nvSpPr>
          <p:cNvPr id="13" name="Shape 10"/>
          <p:cNvSpPr/>
          <p:nvPr/>
        </p:nvSpPr>
        <p:spPr>
          <a:xfrm>
            <a:off x="4695509" y="4134644"/>
            <a:ext cx="1325132" cy="251420"/>
          </a:xfrm>
          <a:prstGeom prst="roundRect">
            <a:avLst>
              <a:gd name="adj" fmla="val 7894"/>
            </a:avLst>
          </a:prstGeom>
          <a:noFill/>
          <a:ln w="6350">
            <a:solidFill>
              <a:srgbClr val="1E1E1A"/>
            </a:solidFill>
            <a:prstDash val="solid"/>
          </a:ln>
        </p:spPr>
      </p:sp>
      <p:sp>
        <p:nvSpPr>
          <p:cNvPr id="14" name="Text 11"/>
          <p:cNvSpPr/>
          <p:nvPr/>
        </p:nvSpPr>
        <p:spPr>
          <a:xfrm>
            <a:off x="4794725" y="4184253"/>
            <a:ext cx="1736285" cy="152202"/>
          </a:xfrm>
          <a:prstGeom prst="rect">
            <a:avLst/>
          </a:prstGeom>
          <a:noFill/>
          <a:ln/>
        </p:spPr>
        <p:txBody>
          <a:bodyPr wrap="none" lIns="0" tIns="0" rIns="0" bIns="0" rtlCol="0" anchor="t"/>
          <a:lstStyle/>
          <a:p>
            <a:pPr algn="l" indent="0" marL="0">
              <a:lnSpc>
                <a:spcPct val="96000"/>
              </a:lnSpc>
              <a:buNone/>
            </a:pPr>
            <a:r>
              <a:rPr lang="en-US" sz="1000" dirty="0">
                <a:solidFill>
                  <a:srgbClr val="1E1E1A"/>
                </a:solidFill>
                <a:latin typeface="Roboto Condensed" pitchFamily="34" charset="0"/>
                <a:ea typeface="Roboto Condensed" pitchFamily="34" charset="-122"/>
                <a:cs typeface="Roboto Condensed" pitchFamily="34" charset="-120"/>
              </a:rPr>
              <a:t>WINDOW FUNCTIONS</a:t>
            </a:r>
            <a:endParaRPr lang="en-US" sz="1000" dirty="0"/>
          </a:p>
        </p:txBody>
      </p:sp>
      <p:sp>
        <p:nvSpPr>
          <p:cNvPr id="15" name="Shape 12"/>
          <p:cNvSpPr/>
          <p:nvPr/>
        </p:nvSpPr>
        <p:spPr>
          <a:xfrm>
            <a:off x="661475" y="4468713"/>
            <a:ext cx="1283561" cy="251420"/>
          </a:xfrm>
          <a:prstGeom prst="roundRect">
            <a:avLst>
              <a:gd name="adj" fmla="val 7894"/>
            </a:avLst>
          </a:prstGeom>
          <a:noFill/>
          <a:ln w="6350">
            <a:solidFill>
              <a:srgbClr val="1E1E1A"/>
            </a:solidFill>
            <a:prstDash val="solid"/>
          </a:ln>
        </p:spPr>
      </p:sp>
      <p:sp>
        <p:nvSpPr>
          <p:cNvPr id="16" name="Text 13"/>
          <p:cNvSpPr/>
          <p:nvPr/>
        </p:nvSpPr>
        <p:spPr>
          <a:xfrm>
            <a:off x="760691" y="4518323"/>
            <a:ext cx="1694713" cy="152202"/>
          </a:xfrm>
          <a:prstGeom prst="rect">
            <a:avLst/>
          </a:prstGeom>
          <a:noFill/>
          <a:ln/>
        </p:spPr>
        <p:txBody>
          <a:bodyPr wrap="none" lIns="0" tIns="0" rIns="0" bIns="0" rtlCol="0" anchor="t"/>
          <a:lstStyle/>
          <a:p>
            <a:pPr algn="l" indent="0" marL="0">
              <a:lnSpc>
                <a:spcPct val="96000"/>
              </a:lnSpc>
              <a:buNone/>
            </a:pPr>
            <a:r>
              <a:rPr lang="en-US" sz="1000" dirty="0">
                <a:solidFill>
                  <a:srgbClr val="1E1E1A"/>
                </a:solidFill>
                <a:latin typeface="Roboto Condensed" pitchFamily="34" charset="0"/>
                <a:ea typeface="Roboto Condensed" pitchFamily="34" charset="-122"/>
                <a:cs typeface="Roboto Condensed" pitchFamily="34" charset="-120"/>
              </a:rPr>
              <a:t>BUSINESS ANALYSIS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20415"/>
            <a:ext cx="6296860" cy="460375"/>
          </a:xfrm>
          <a:prstGeom prst="rect">
            <a:avLst/>
          </a:prstGeom>
          <a:noFill/>
          <a:ln/>
        </p:spPr>
        <p:txBody>
          <a:bodyPr wrap="none" lIns="0" tIns="0" rIns="0" bIns="0" rtlCol="0" anchor="t"/>
          <a:lstStyle/>
          <a:p>
            <a:pPr algn="l" indent="0" marL="0">
              <a:lnSpc>
                <a:spcPct val="104000"/>
              </a:lnSpc>
              <a:buNone/>
            </a:pPr>
            <a:r>
              <a:rPr lang="en-US" sz="2850" b="1" dirty="0">
                <a:solidFill>
                  <a:srgbClr val="0C0D0F"/>
                </a:solidFill>
                <a:latin typeface="Hubot Sans Bold" pitchFamily="34" charset="0"/>
                <a:ea typeface="Hubot Sans Bold" pitchFamily="34" charset="-122"/>
                <a:cs typeface="Hubot Sans Bold" pitchFamily="34" charset="-120"/>
              </a:rPr>
              <a:t>THE BUSINESS PROBLEM</a:t>
            </a:r>
            <a:endParaRPr lang="en-US" sz="2850" dirty="0"/>
          </a:p>
        </p:txBody>
      </p:sp>
      <p:sp>
        <p:nvSpPr>
          <p:cNvPr id="4" name="Text 1"/>
          <p:cNvSpPr/>
          <p:nvPr/>
        </p:nvSpPr>
        <p:spPr>
          <a:xfrm>
            <a:off x="661475" y="1277541"/>
            <a:ext cx="6296860" cy="89138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55575A"/>
                </a:solidFill>
                <a:latin typeface="Roboto Condensed" pitchFamily="34" charset="0"/>
                <a:ea typeface="Roboto Condensed" pitchFamily="34" charset="-122"/>
                <a:cs typeface="Roboto Condensed" pitchFamily="34" charset="-120"/>
              </a:rPr>
              <a:t>A pizza business generates a large volume of transactional data every day. Management needs to move beyond raw order records and understand what the data reveals about customer behavior, product performance, and operational efficiency. This project uses SQL to answer critical business questions across three analytical levels.</a:t>
            </a:r>
            <a:endParaRPr lang="en-US" sz="1150" dirty="0"/>
          </a:p>
        </p:txBody>
      </p:sp>
      <p:sp>
        <p:nvSpPr>
          <p:cNvPr id="5" name="Shape 2"/>
          <p:cNvSpPr/>
          <p:nvPr/>
        </p:nvSpPr>
        <p:spPr>
          <a:xfrm>
            <a:off x="661475" y="2316460"/>
            <a:ext cx="6296860" cy="826195"/>
          </a:xfrm>
          <a:prstGeom prst="roundRect">
            <a:avLst>
              <a:gd name="adj" fmla="val 2674"/>
            </a:avLst>
          </a:prstGeom>
          <a:solidFill>
            <a:srgbClr val="C8CAC1">
              <a:alpha val="50000"/>
            </a:srgbClr>
          </a:solidFill>
          <a:ln/>
        </p:spPr>
      </p:sp>
      <p:sp>
        <p:nvSpPr>
          <p:cNvPr id="6" name="Text 3"/>
          <p:cNvSpPr/>
          <p:nvPr/>
        </p:nvSpPr>
        <p:spPr>
          <a:xfrm>
            <a:off x="808712" y="2463701"/>
            <a:ext cx="6002386" cy="230187"/>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Hubot Sans Bold" pitchFamily="34" charset="0"/>
                <a:ea typeface="Hubot Sans Bold" pitchFamily="34" charset="-122"/>
                <a:cs typeface="Hubot Sans Bold" pitchFamily="34" charset="-120"/>
              </a:rPr>
              <a:t>SALES PERFORMANCE</a:t>
            </a:r>
            <a:endParaRPr lang="en-US" sz="1400" dirty="0"/>
          </a:p>
        </p:txBody>
      </p:sp>
      <p:sp>
        <p:nvSpPr>
          <p:cNvPr id="7" name="Text 4"/>
          <p:cNvSpPr/>
          <p:nvPr/>
        </p:nvSpPr>
        <p:spPr>
          <a:xfrm>
            <a:off x="808712" y="2772569"/>
            <a:ext cx="6002386" cy="222845"/>
          </a:xfrm>
          <a:prstGeom prst="rect">
            <a:avLst/>
          </a:prstGeom>
          <a:noFill/>
          <a:ln/>
        </p:spPr>
        <p:txBody>
          <a:bodyPr wrap="none" lIns="0" tIns="0" rIns="0" bIns="0" rtlCol="0" anchor="t"/>
          <a:lstStyle/>
          <a:p>
            <a:pPr algn="l" indent="0" marL="0">
              <a:lnSpc>
                <a:spcPct val="126000"/>
              </a:lnSpc>
              <a:buNone/>
            </a:pPr>
            <a:r>
              <a:rPr lang="en-US" sz="1150" dirty="0">
                <a:solidFill>
                  <a:srgbClr val="000000"/>
                </a:solidFill>
                <a:latin typeface="Roboto Condensed" pitchFamily="34" charset="0"/>
                <a:ea typeface="Roboto Condensed" pitchFamily="34" charset="-122"/>
                <a:cs typeface="Roboto Condensed" pitchFamily="34" charset="-120"/>
              </a:rPr>
              <a:t>How many orders were placed? How much revenue was generated? Which pizzas drive the most sales?</a:t>
            </a:r>
            <a:endParaRPr lang="en-US" sz="1150" dirty="0"/>
          </a:p>
        </p:txBody>
      </p:sp>
      <p:sp>
        <p:nvSpPr>
          <p:cNvPr id="8" name="Shape 5"/>
          <p:cNvSpPr/>
          <p:nvPr/>
        </p:nvSpPr>
        <p:spPr>
          <a:xfrm>
            <a:off x="661475" y="3273822"/>
            <a:ext cx="6296860" cy="826195"/>
          </a:xfrm>
          <a:prstGeom prst="roundRect">
            <a:avLst>
              <a:gd name="adj" fmla="val 2674"/>
            </a:avLst>
          </a:prstGeom>
          <a:solidFill>
            <a:srgbClr val="C8CAC1">
              <a:alpha val="50000"/>
            </a:srgbClr>
          </a:solidFill>
          <a:ln/>
        </p:spPr>
      </p:sp>
      <p:sp>
        <p:nvSpPr>
          <p:cNvPr id="9" name="Text 6"/>
          <p:cNvSpPr/>
          <p:nvPr/>
        </p:nvSpPr>
        <p:spPr>
          <a:xfrm>
            <a:off x="808712" y="3421063"/>
            <a:ext cx="6002386" cy="230187"/>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Hubot Sans Bold" pitchFamily="34" charset="0"/>
                <a:ea typeface="Hubot Sans Bold" pitchFamily="34" charset="-122"/>
                <a:cs typeface="Hubot Sans Bold" pitchFamily="34" charset="-120"/>
              </a:rPr>
              <a:t>PRODUCT INSIGHTS</a:t>
            </a:r>
            <a:endParaRPr lang="en-US" sz="1400" dirty="0"/>
          </a:p>
        </p:txBody>
      </p:sp>
      <p:sp>
        <p:nvSpPr>
          <p:cNvPr id="10" name="Text 7"/>
          <p:cNvSpPr/>
          <p:nvPr/>
        </p:nvSpPr>
        <p:spPr>
          <a:xfrm>
            <a:off x="808712" y="3729930"/>
            <a:ext cx="6002386" cy="222845"/>
          </a:xfrm>
          <a:prstGeom prst="rect">
            <a:avLst/>
          </a:prstGeom>
          <a:noFill/>
          <a:ln/>
        </p:spPr>
        <p:txBody>
          <a:bodyPr wrap="none" lIns="0" tIns="0" rIns="0" bIns="0" rtlCol="0" anchor="t"/>
          <a:lstStyle/>
          <a:p>
            <a:pPr algn="l" indent="0" marL="0">
              <a:lnSpc>
                <a:spcPct val="126000"/>
              </a:lnSpc>
              <a:buNone/>
            </a:pPr>
            <a:r>
              <a:rPr lang="en-US" sz="1150" dirty="0">
                <a:solidFill>
                  <a:srgbClr val="000000"/>
                </a:solidFill>
                <a:latin typeface="Roboto Condensed" pitchFamily="34" charset="0"/>
                <a:ea typeface="Roboto Condensed" pitchFamily="34" charset="-122"/>
                <a:cs typeface="Roboto Condensed" pitchFamily="34" charset="-120"/>
              </a:rPr>
              <a:t>Which sizes and categories are most popular? Which pizza types should receive more attention?</a:t>
            </a:r>
            <a:endParaRPr lang="en-US" sz="1150" dirty="0"/>
          </a:p>
        </p:txBody>
      </p:sp>
      <p:sp>
        <p:nvSpPr>
          <p:cNvPr id="11" name="Shape 8"/>
          <p:cNvSpPr/>
          <p:nvPr/>
        </p:nvSpPr>
        <p:spPr>
          <a:xfrm>
            <a:off x="661475" y="4231184"/>
            <a:ext cx="6296860" cy="826195"/>
          </a:xfrm>
          <a:prstGeom prst="roundRect">
            <a:avLst>
              <a:gd name="adj" fmla="val 2674"/>
            </a:avLst>
          </a:prstGeom>
          <a:solidFill>
            <a:srgbClr val="C8CAC1">
              <a:alpha val="50000"/>
            </a:srgbClr>
          </a:solidFill>
          <a:ln/>
        </p:spPr>
      </p:sp>
      <p:sp>
        <p:nvSpPr>
          <p:cNvPr id="12" name="Text 9"/>
          <p:cNvSpPr/>
          <p:nvPr/>
        </p:nvSpPr>
        <p:spPr>
          <a:xfrm>
            <a:off x="808712" y="4378424"/>
            <a:ext cx="6002386" cy="230187"/>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Hubot Sans Bold" pitchFamily="34" charset="0"/>
                <a:ea typeface="Hubot Sans Bold" pitchFamily="34" charset="-122"/>
                <a:cs typeface="Hubot Sans Bold" pitchFamily="34" charset="-120"/>
              </a:rPr>
              <a:t>OPERATIONAL PEAKS</a:t>
            </a:r>
            <a:endParaRPr lang="en-US" sz="1400" dirty="0"/>
          </a:p>
        </p:txBody>
      </p:sp>
      <p:sp>
        <p:nvSpPr>
          <p:cNvPr id="13" name="Text 10"/>
          <p:cNvSpPr/>
          <p:nvPr/>
        </p:nvSpPr>
        <p:spPr>
          <a:xfrm>
            <a:off x="808712" y="4687292"/>
            <a:ext cx="6002386" cy="222845"/>
          </a:xfrm>
          <a:prstGeom prst="rect">
            <a:avLst/>
          </a:prstGeom>
          <a:noFill/>
          <a:ln/>
        </p:spPr>
        <p:txBody>
          <a:bodyPr wrap="none" lIns="0" tIns="0" rIns="0" bIns="0" rtlCol="0" anchor="t"/>
          <a:lstStyle/>
          <a:p>
            <a:pPr algn="l" indent="0" marL="0">
              <a:lnSpc>
                <a:spcPct val="126000"/>
              </a:lnSpc>
              <a:buNone/>
            </a:pPr>
            <a:r>
              <a:rPr lang="en-US" sz="1150" dirty="0">
                <a:solidFill>
                  <a:srgbClr val="000000"/>
                </a:solidFill>
                <a:latin typeface="Roboto Condensed" pitchFamily="34" charset="0"/>
                <a:ea typeface="Roboto Condensed" pitchFamily="34" charset="-122"/>
                <a:cs typeface="Roboto Condensed" pitchFamily="34" charset="-120"/>
              </a:rPr>
              <a:t>During which hours are orders highest? How can staffing and inventory be optimized?</a:t>
            </a:r>
            <a:endParaRPr lang="en-US" sz="1150" dirty="0"/>
          </a:p>
        </p:txBody>
      </p:sp>
      <p:sp>
        <p:nvSpPr>
          <p:cNvPr id="14" name="Shape 11"/>
          <p:cNvSpPr/>
          <p:nvPr/>
        </p:nvSpPr>
        <p:spPr>
          <a:xfrm>
            <a:off x="661475" y="5188545"/>
            <a:ext cx="6296860" cy="1049040"/>
          </a:xfrm>
          <a:prstGeom prst="roundRect">
            <a:avLst>
              <a:gd name="adj" fmla="val 2106"/>
            </a:avLst>
          </a:prstGeom>
          <a:solidFill>
            <a:srgbClr val="C8CAC1">
              <a:alpha val="50000"/>
            </a:srgbClr>
          </a:solidFill>
          <a:ln/>
        </p:spPr>
      </p:sp>
      <p:sp>
        <p:nvSpPr>
          <p:cNvPr id="15" name="Text 12"/>
          <p:cNvSpPr/>
          <p:nvPr/>
        </p:nvSpPr>
        <p:spPr>
          <a:xfrm>
            <a:off x="808712" y="5335786"/>
            <a:ext cx="6002386" cy="230187"/>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Hubot Sans Bold" pitchFamily="34" charset="0"/>
                <a:ea typeface="Hubot Sans Bold" pitchFamily="34" charset="-122"/>
                <a:cs typeface="Hubot Sans Bold" pitchFamily="34" charset="-120"/>
              </a:rPr>
              <a:t>STRATEGIC OBJECTIVE</a:t>
            </a:r>
            <a:endParaRPr lang="en-US" sz="1400" dirty="0"/>
          </a:p>
        </p:txBody>
      </p:sp>
      <p:sp>
        <p:nvSpPr>
          <p:cNvPr id="16" name="Text 13"/>
          <p:cNvSpPr/>
          <p:nvPr/>
        </p:nvSpPr>
        <p:spPr>
          <a:xfrm>
            <a:off x="808712" y="5644654"/>
            <a:ext cx="6002386"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000000"/>
                </a:solidFill>
                <a:latin typeface="Roboto Condensed" pitchFamily="34" charset="0"/>
                <a:ea typeface="Roboto Condensed" pitchFamily="34" charset="-122"/>
                <a:cs typeface="Roboto Condensed" pitchFamily="34" charset="-120"/>
              </a:rPr>
              <a:t>Convert raw order-level data into meaningful insights for sales planning, menu optimization, and decision-making.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C0D0F"/>
                </a:solidFill>
                <a:latin typeface="Hubot Sans Bold" pitchFamily="34" charset="0"/>
                <a:ea typeface="Hubot Sans Bold" pitchFamily="34" charset="-122"/>
                <a:cs typeface="Hubot Sans Bold" pitchFamily="34" charset="-120"/>
              </a:rPr>
              <a:t>DATASET &amp; DATABASE SCHEMA</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algn="l" indent="0" marL="0">
              <a:lnSpc>
                <a:spcPct val="100000"/>
              </a:lnSpc>
              <a:buNone/>
            </a:pPr>
            <a:r>
              <a:rPr lang="en-US" sz="650" dirty="0">
                <a:solidFill>
                  <a:srgbClr val="55575A"/>
                </a:solidFill>
                <a:latin typeface="Roboto Condensed" pitchFamily="34" charset="0"/>
                <a:ea typeface="Roboto Condensed" pitchFamily="34" charset="-122"/>
                <a:cs typeface="Roboto Condensed" pitchFamily="34" charset="-120"/>
              </a:rPr>
              <a:t>The analysis is built on four relational tables. Combining transaction, price, product, and category information requires multi-table JOINs — a core SQL skill for any data analyst.</a:t>
            </a:r>
            <a:endParaRPr lang="en-US" sz="650" dirty="0"/>
          </a:p>
        </p:txBody>
      </p:sp>
      <p:pic>
        <p:nvPicPr>
          <p:cNvPr id="4" name="Image 0" descr="preencoded.png">    </p:cNvPr>
          <p:cNvPicPr>
            <a:picLocks noChangeAspect="1"/>
          </p:cNvPicPr>
          <p:nvPr/>
        </p:nvPicPr>
        <p:blipFill>
          <a:blip r:embed="rId1"/>
          <a:stretch>
            <a:fillRect/>
          </a:stretch>
        </p:blipFill>
        <p:spPr>
          <a:xfrm>
            <a:off x="661475" y="941487"/>
            <a:ext cx="9753356" cy="5486400"/>
          </a:xfrm>
          <a:prstGeom prst="rect">
            <a:avLst/>
          </a:prstGeom>
        </p:spPr>
      </p:pic>
      <p:sp>
        <p:nvSpPr>
          <p:cNvPr id="5" name="Text 2"/>
          <p:cNvSpPr/>
          <p:nvPr/>
        </p:nvSpPr>
        <p:spPr>
          <a:xfrm>
            <a:off x="661475" y="6515596"/>
            <a:ext cx="5333569" cy="129183"/>
          </a:xfrm>
          <a:prstGeom prst="rect">
            <a:avLst/>
          </a:prstGeom>
          <a:noFill/>
          <a:ln/>
        </p:spPr>
        <p:txBody>
          <a:bodyPr wrap="none" lIns="0" tIns="0" rIns="0" bIns="0" rtlCol="0" anchor="t"/>
          <a:lstStyle/>
          <a:p>
            <a:pPr algn="l" indent="0" marL="0">
              <a:lnSpc>
                <a:spcPct val="104000"/>
              </a:lnSpc>
              <a:buNone/>
            </a:pPr>
            <a:r>
              <a:rPr lang="en-US" sz="800" b="1" dirty="0">
                <a:solidFill>
                  <a:srgbClr val="0C0D0F"/>
                </a:solidFill>
                <a:latin typeface="Hubot Sans Bold" pitchFamily="34" charset="0"/>
                <a:ea typeface="Hubot Sans Bold" pitchFamily="34" charset="-122"/>
                <a:cs typeface="Hubot Sans Bold" pitchFamily="34" charset="-120"/>
              </a:rPr>
              <a:t>TABLE ROLES</a:t>
            </a:r>
            <a:endParaRPr lang="en-US" sz="800" dirty="0"/>
          </a:p>
        </p:txBody>
      </p:sp>
      <p:sp>
        <p:nvSpPr>
          <p:cNvPr id="6" name="Text 3"/>
          <p:cNvSpPr/>
          <p:nvPr/>
        </p:nvSpPr>
        <p:spPr>
          <a:xfrm>
            <a:off x="661475" y="6686054"/>
            <a:ext cx="5333569" cy="439638"/>
          </a:xfrm>
          <a:prstGeom prst="rect">
            <a:avLst/>
          </a:prstGeom>
          <a:noFill/>
          <a:ln/>
        </p:spPr>
        <p:txBody>
          <a:bodyPr wrap="square" lIns="0" tIns="0" rIns="0" bIns="0" rtlCol="0" anchor="t">
            <a:normAutofit/>
          </a:bodyPr>
          <a:lstStyle/>
          <a:p>
            <a:pPr algn="l" marL="132080" indent="-132080">
              <a:lnSpc>
                <a:spcPct val="100000"/>
              </a:lnSpc>
              <a:buSzPct val="100000"/>
              <a:buChar char="•"/>
            </a:pPr>
            <a:r>
              <a:rPr lang="en-US" sz="650" b="1" dirty="0">
                <a:solidFill>
                  <a:srgbClr val="55575A"/>
                </a:solidFill>
                <a:latin typeface="Roboto Condensed Bold" pitchFamily="34" charset="0"/>
                <a:ea typeface="Roboto Condensed Bold" pitchFamily="34" charset="-122"/>
                <a:cs typeface="Roboto Condensed Bold" pitchFamily="34" charset="-120"/>
              </a:rPr>
              <a:t>orders</a:t>
            </a:r>
            <a:pPr algn="l" marL="132080" indent="-132080">
              <a:lnSpc>
                <a:spcPct val="100000"/>
              </a:lnSpc>
              <a:buSzPct val="100000"/>
              <a:buChar char="•"/>
            </a:pPr>
            <a:r>
              <a:rPr lang="en-US" sz="650" dirty="0">
                <a:solidFill>
                  <a:srgbClr val="55575A"/>
                </a:solidFill>
                <a:latin typeface="Roboto Condensed" pitchFamily="34" charset="0"/>
                <a:ea typeface="Roboto Condensed" pitchFamily="34" charset="-122"/>
                <a:cs typeface="Roboto Condensed" pitchFamily="34" charset="-120"/>
              </a:rPr>
              <a:t> — Stores order date and time</a:t>
            </a:r>
            <a:endParaRPr lang="en-US" sz="650" dirty="0"/>
          </a:p>
          <a:p>
            <a:pPr algn="l" marL="132080" indent="-132080">
              <a:lnSpc>
                <a:spcPct val="100000"/>
              </a:lnSpc>
              <a:buSzPct val="100000"/>
              <a:buChar char="•"/>
            </a:pPr>
            <a:r>
              <a:rPr lang="en-US" sz="650" b="1" dirty="0">
                <a:solidFill>
                  <a:srgbClr val="55575A"/>
                </a:solidFill>
                <a:latin typeface="Roboto Condensed Bold" pitchFamily="34" charset="0"/>
                <a:ea typeface="Roboto Condensed Bold" pitchFamily="34" charset="-122"/>
                <a:cs typeface="Roboto Condensed Bold" pitchFamily="34" charset="-120"/>
              </a:rPr>
              <a:t>order_details</a:t>
            </a:r>
            <a:pPr algn="l" marL="132080" indent="-132080">
              <a:lnSpc>
                <a:spcPct val="100000"/>
              </a:lnSpc>
              <a:buSzPct val="100000"/>
              <a:buChar char="•"/>
            </a:pPr>
            <a:r>
              <a:rPr lang="en-US" sz="650" dirty="0">
                <a:solidFill>
                  <a:srgbClr val="55575A"/>
                </a:solidFill>
                <a:latin typeface="Roboto Condensed" pitchFamily="34" charset="0"/>
                <a:ea typeface="Roboto Condensed" pitchFamily="34" charset="-122"/>
                <a:cs typeface="Roboto Condensed" pitchFamily="34" charset="-120"/>
              </a:rPr>
              <a:t> — Stores ordered quantities per pizza</a:t>
            </a:r>
            <a:endParaRPr lang="en-US" sz="650" dirty="0"/>
          </a:p>
          <a:p>
            <a:pPr algn="l" marL="132080" indent="-132080">
              <a:lnSpc>
                <a:spcPct val="100000"/>
              </a:lnSpc>
              <a:buSzPct val="100000"/>
              <a:buChar char="•"/>
            </a:pPr>
            <a:r>
              <a:rPr lang="en-US" sz="650" b="1" dirty="0">
                <a:solidFill>
                  <a:srgbClr val="55575A"/>
                </a:solidFill>
                <a:latin typeface="Roboto Condensed Bold" pitchFamily="34" charset="0"/>
                <a:ea typeface="Roboto Condensed Bold" pitchFamily="34" charset="-122"/>
                <a:cs typeface="Roboto Condensed Bold" pitchFamily="34" charset="-120"/>
              </a:rPr>
              <a:t>pizzas</a:t>
            </a:r>
            <a:pPr algn="l" marL="132080" indent="-132080">
              <a:lnSpc>
                <a:spcPct val="100000"/>
              </a:lnSpc>
              <a:buSzPct val="100000"/>
              <a:buChar char="•"/>
            </a:pPr>
            <a:r>
              <a:rPr lang="en-US" sz="650" dirty="0">
                <a:solidFill>
                  <a:srgbClr val="55575A"/>
                </a:solidFill>
                <a:latin typeface="Roboto Condensed" pitchFamily="34" charset="0"/>
                <a:ea typeface="Roboto Condensed" pitchFamily="34" charset="-122"/>
                <a:cs typeface="Roboto Condensed" pitchFamily="34" charset="-120"/>
              </a:rPr>
              <a:t> — Stores size and price information</a:t>
            </a:r>
            <a:endParaRPr lang="en-US" sz="650" dirty="0"/>
          </a:p>
          <a:p>
            <a:pPr algn="l" marL="132080" indent="-132080">
              <a:lnSpc>
                <a:spcPct val="100000"/>
              </a:lnSpc>
              <a:buSzPct val="100000"/>
              <a:buChar char="•"/>
            </a:pPr>
            <a:r>
              <a:rPr lang="en-US" sz="650" b="1" dirty="0">
                <a:solidFill>
                  <a:srgbClr val="55575A"/>
                </a:solidFill>
                <a:latin typeface="Roboto Condensed Bold" pitchFamily="34" charset="0"/>
                <a:ea typeface="Roboto Condensed Bold" pitchFamily="34" charset="-122"/>
                <a:cs typeface="Roboto Condensed Bold" pitchFamily="34" charset="-120"/>
              </a:rPr>
              <a:t>pizza_types</a:t>
            </a:r>
            <a:pPr algn="l" marL="132080" indent="-132080">
              <a:lnSpc>
                <a:spcPct val="100000"/>
              </a:lnSpc>
              <a:buSzPct val="100000"/>
              <a:buChar char="•"/>
            </a:pPr>
            <a:r>
              <a:rPr lang="en-US" sz="650" dirty="0">
                <a:solidFill>
                  <a:srgbClr val="55575A"/>
                </a:solidFill>
                <a:latin typeface="Roboto Condensed" pitchFamily="34" charset="0"/>
                <a:ea typeface="Roboto Condensed" pitchFamily="34" charset="-122"/>
                <a:cs typeface="Roboto Condensed" pitchFamily="34" charset="-120"/>
              </a:rPr>
              <a:t> — Stores pizza names and categories</a:t>
            </a:r>
            <a:endParaRPr lang="en-US" sz="650" dirty="0"/>
          </a:p>
        </p:txBody>
      </p:sp>
      <p:sp>
        <p:nvSpPr>
          <p:cNvPr id="7" name="Shape 4"/>
          <p:cNvSpPr/>
          <p:nvPr/>
        </p:nvSpPr>
        <p:spPr>
          <a:xfrm>
            <a:off x="6143471" y="6474321"/>
            <a:ext cx="5452628" cy="665758"/>
          </a:xfrm>
          <a:prstGeom prst="roundRect">
            <a:avLst>
              <a:gd name="adj" fmla="val 1863"/>
            </a:avLst>
          </a:prstGeom>
          <a:solidFill>
            <a:srgbClr val="1E1E1A"/>
          </a:solidFill>
          <a:ln/>
        </p:spPr>
      </p:sp>
      <p:sp>
        <p:nvSpPr>
          <p:cNvPr id="8" name="Text 5"/>
          <p:cNvSpPr/>
          <p:nvPr/>
        </p:nvSpPr>
        <p:spPr>
          <a:xfrm>
            <a:off x="6226118" y="6515596"/>
            <a:ext cx="5287334" cy="129183"/>
          </a:xfrm>
          <a:prstGeom prst="rect">
            <a:avLst/>
          </a:prstGeom>
          <a:noFill/>
          <a:ln/>
        </p:spPr>
        <p:txBody>
          <a:bodyPr wrap="none" lIns="0" tIns="0" rIns="0" bIns="0" rtlCol="0" anchor="t"/>
          <a:lstStyle/>
          <a:p>
            <a:pPr algn="l" indent="0" marL="0">
              <a:lnSpc>
                <a:spcPct val="104000"/>
              </a:lnSpc>
              <a:buNone/>
            </a:pPr>
            <a:r>
              <a:rPr lang="en-US" sz="800" b="1" dirty="0">
                <a:solidFill>
                  <a:srgbClr val="FFFFFF"/>
                </a:solidFill>
                <a:latin typeface="Hubot Sans Bold" pitchFamily="34" charset="0"/>
                <a:ea typeface="Hubot Sans Bold" pitchFamily="34" charset="-122"/>
                <a:cs typeface="Hubot Sans Bold" pitchFamily="34" charset="-120"/>
              </a:rPr>
              <a:t>WHY JOINS ARE REQUIRED</a:t>
            </a:r>
            <a:endParaRPr lang="en-US" sz="800" dirty="0"/>
          </a:p>
        </p:txBody>
      </p:sp>
      <p:sp>
        <p:nvSpPr>
          <p:cNvPr id="9" name="Text 6"/>
          <p:cNvSpPr/>
          <p:nvPr/>
        </p:nvSpPr>
        <p:spPr>
          <a:xfrm>
            <a:off x="6226118" y="6686054"/>
            <a:ext cx="5287334"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FFFFFF"/>
                </a:solidFill>
                <a:latin typeface="Roboto Condensed" pitchFamily="34" charset="0"/>
                <a:ea typeface="Roboto Condensed" pitchFamily="34" charset="-122"/>
                <a:cs typeface="Roboto Condensed" pitchFamily="34" charset="-120"/>
              </a:rPr>
              <a:t>No single table contains all the information needed to answer business questions. JOINs combine transaction records with pricing, product names, and category data to produce complete analytical results.</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391444"/>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C0D0F"/>
                </a:solidFill>
                <a:latin typeface="Hubot Sans Bold" pitchFamily="34" charset="0"/>
                <a:ea typeface="Hubot Sans Bold" pitchFamily="34" charset="-122"/>
                <a:cs typeface="Hubot Sans Bold" pitchFamily="34" charset="-120"/>
              </a:rPr>
              <a:t>ANALYTICAL QUESTIONS — THREE LEVELS</a:t>
            </a:r>
            <a:endParaRPr lang="en-US" sz="3250" dirty="0"/>
          </a:p>
        </p:txBody>
      </p:sp>
      <p:sp>
        <p:nvSpPr>
          <p:cNvPr id="3" name="Text 1"/>
          <p:cNvSpPr/>
          <p:nvPr/>
        </p:nvSpPr>
        <p:spPr>
          <a:xfrm>
            <a:off x="661475" y="223887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55575A"/>
                </a:solidFill>
                <a:latin typeface="Roboto Condensed" pitchFamily="34" charset="0"/>
                <a:ea typeface="Roboto Condensed" pitchFamily="34" charset="-122"/>
                <a:cs typeface="Roboto Condensed" pitchFamily="34" charset="-120"/>
              </a:rPr>
              <a:t>The project is structured across three difficulty levels, progressively demonstrating more advanced SQL techniques and deeper business insight generation.</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89523"/>
            <a:ext cx="3512653" cy="2776934"/>
          </a:xfrm>
          <a:prstGeom prst="rect">
            <a:avLst/>
          </a:prstGeom>
        </p:spPr>
      </p:pic>
      <p:sp>
        <p:nvSpPr>
          <p:cNvPr id="5" name="Text 2"/>
          <p:cNvSpPr/>
          <p:nvPr/>
        </p:nvSpPr>
        <p:spPr>
          <a:xfrm>
            <a:off x="2293781" y="2801541"/>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Hubot Sans Bold" pitchFamily="34" charset="0"/>
                <a:ea typeface="Hubot Sans Bold" pitchFamily="34" charset="-122"/>
                <a:cs typeface="Hubot Sans Bold" pitchFamily="34" charset="-120"/>
              </a:rPr>
              <a:t>1</a:t>
            </a:r>
            <a:endParaRPr lang="en-US" sz="1950" dirty="0"/>
          </a:p>
        </p:txBody>
      </p:sp>
      <p:sp>
        <p:nvSpPr>
          <p:cNvPr id="6" name="Text 3"/>
          <p:cNvSpPr/>
          <p:nvPr/>
        </p:nvSpPr>
        <p:spPr>
          <a:xfrm>
            <a:off x="845819" y="3369965"/>
            <a:ext cx="3143965" cy="258465"/>
          </a:xfrm>
          <a:prstGeom prst="rect">
            <a:avLst/>
          </a:prstGeom>
          <a:noFill/>
          <a:ln/>
        </p:spPr>
        <p:txBody>
          <a:bodyPr wrap="none" lIns="0" tIns="0" rIns="0" bIns="0" rtlCol="0" anchor="t"/>
          <a:lstStyle/>
          <a:p>
            <a:pPr algn="l" indent="0" marL="0">
              <a:lnSpc>
                <a:spcPct val="104000"/>
              </a:lnSpc>
              <a:buNone/>
            </a:pPr>
            <a:r>
              <a:rPr lang="en-US" sz="1600" b="1" dirty="0">
                <a:solidFill>
                  <a:srgbClr val="55575A"/>
                </a:solidFill>
                <a:latin typeface="Hubot Sans Bold" pitchFamily="34" charset="0"/>
                <a:ea typeface="Hubot Sans Bold" pitchFamily="34" charset="-122"/>
                <a:cs typeface="Hubot Sans Bold" pitchFamily="34" charset="-120"/>
              </a:rPr>
              <a:t>BASIC ANALYSIS</a:t>
            </a:r>
            <a:endParaRPr lang="en-US" sz="1600" dirty="0"/>
          </a:p>
        </p:txBody>
      </p:sp>
      <p:sp>
        <p:nvSpPr>
          <p:cNvPr id="7" name="Text 4"/>
          <p:cNvSpPr/>
          <p:nvPr/>
        </p:nvSpPr>
        <p:spPr>
          <a:xfrm>
            <a:off x="845819" y="3727648"/>
            <a:ext cx="3143965" cy="1554460"/>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Total number of orders</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Total revenue generated</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Highest-priced pizza</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Most common pizza size</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Top 5 pizza types by quantity</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2689523"/>
            <a:ext cx="3512752" cy="2776934"/>
          </a:xfrm>
          <a:prstGeom prst="rect">
            <a:avLst/>
          </a:prstGeom>
        </p:spPr>
      </p:pic>
      <p:sp>
        <p:nvSpPr>
          <p:cNvPr id="9" name="Text 5"/>
          <p:cNvSpPr/>
          <p:nvPr/>
        </p:nvSpPr>
        <p:spPr>
          <a:xfrm>
            <a:off x="5971728" y="2801541"/>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Hubot Sans Bold" pitchFamily="34" charset="0"/>
                <a:ea typeface="Hubot Sans Bold" pitchFamily="34" charset="-122"/>
                <a:cs typeface="Hubot Sans Bold" pitchFamily="34" charset="-120"/>
              </a:rPr>
              <a:t>2</a:t>
            </a:r>
            <a:endParaRPr lang="en-US" sz="1950" dirty="0"/>
          </a:p>
        </p:txBody>
      </p:sp>
      <p:sp>
        <p:nvSpPr>
          <p:cNvPr id="10" name="Text 6"/>
          <p:cNvSpPr/>
          <p:nvPr/>
        </p:nvSpPr>
        <p:spPr>
          <a:xfrm>
            <a:off x="4523766" y="3369965"/>
            <a:ext cx="3144064" cy="258465"/>
          </a:xfrm>
          <a:prstGeom prst="rect">
            <a:avLst/>
          </a:prstGeom>
          <a:noFill/>
          <a:ln/>
        </p:spPr>
        <p:txBody>
          <a:bodyPr wrap="none" lIns="0" tIns="0" rIns="0" bIns="0" rtlCol="0" anchor="t"/>
          <a:lstStyle/>
          <a:p>
            <a:pPr algn="l" indent="0" marL="0">
              <a:lnSpc>
                <a:spcPct val="104000"/>
              </a:lnSpc>
              <a:buNone/>
            </a:pPr>
            <a:r>
              <a:rPr lang="en-US" sz="1600" b="1" dirty="0">
                <a:solidFill>
                  <a:srgbClr val="55575A"/>
                </a:solidFill>
                <a:latin typeface="Hubot Sans Bold" pitchFamily="34" charset="0"/>
                <a:ea typeface="Hubot Sans Bold" pitchFamily="34" charset="-122"/>
                <a:cs typeface="Hubot Sans Bold" pitchFamily="34" charset="-120"/>
              </a:rPr>
              <a:t>INTERMEDIATE ANALYSIS</a:t>
            </a:r>
            <a:endParaRPr lang="en-US" sz="1600" dirty="0"/>
          </a:p>
        </p:txBody>
      </p:sp>
      <p:sp>
        <p:nvSpPr>
          <p:cNvPr id="11" name="Text 7"/>
          <p:cNvSpPr/>
          <p:nvPr/>
        </p:nvSpPr>
        <p:spPr>
          <a:xfrm>
            <a:off x="4523766" y="3727648"/>
            <a:ext cx="3144064" cy="1554460"/>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Quantity ordered by category</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Orders by hour of day</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Category-wise pizza distribution</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Average pizzas ordered per day</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Top 3 pizza types by revenue</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7468" y="2689523"/>
            <a:ext cx="3512653" cy="2776934"/>
          </a:xfrm>
          <a:prstGeom prst="rect">
            <a:avLst/>
          </a:prstGeom>
        </p:spPr>
      </p:pic>
      <p:sp>
        <p:nvSpPr>
          <p:cNvPr id="13" name="Text 8"/>
          <p:cNvSpPr/>
          <p:nvPr/>
        </p:nvSpPr>
        <p:spPr>
          <a:xfrm>
            <a:off x="9649774" y="2801541"/>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Hubot Sans Bold" pitchFamily="34" charset="0"/>
                <a:ea typeface="Hubot Sans Bold" pitchFamily="34" charset="-122"/>
                <a:cs typeface="Hubot Sans Bold" pitchFamily="34" charset="-120"/>
              </a:rPr>
              <a:t>3</a:t>
            </a:r>
            <a:endParaRPr lang="en-US" sz="1950" dirty="0"/>
          </a:p>
        </p:txBody>
      </p:sp>
      <p:sp>
        <p:nvSpPr>
          <p:cNvPr id="14" name="Text 9"/>
          <p:cNvSpPr/>
          <p:nvPr/>
        </p:nvSpPr>
        <p:spPr>
          <a:xfrm>
            <a:off x="8201812" y="3369965"/>
            <a:ext cx="3143965" cy="258465"/>
          </a:xfrm>
          <a:prstGeom prst="rect">
            <a:avLst/>
          </a:prstGeom>
          <a:noFill/>
          <a:ln/>
        </p:spPr>
        <p:txBody>
          <a:bodyPr wrap="none" lIns="0" tIns="0" rIns="0" bIns="0" rtlCol="0" anchor="t"/>
          <a:lstStyle/>
          <a:p>
            <a:pPr algn="l" indent="0" marL="0">
              <a:lnSpc>
                <a:spcPct val="104000"/>
              </a:lnSpc>
              <a:buNone/>
            </a:pPr>
            <a:r>
              <a:rPr lang="en-US" sz="1600" b="1" dirty="0">
                <a:solidFill>
                  <a:srgbClr val="55575A"/>
                </a:solidFill>
                <a:latin typeface="Hubot Sans Bold" pitchFamily="34" charset="0"/>
                <a:ea typeface="Hubot Sans Bold" pitchFamily="34" charset="-122"/>
                <a:cs typeface="Hubot Sans Bold" pitchFamily="34" charset="-120"/>
              </a:rPr>
              <a:t>ADVANCED ANALYSIS</a:t>
            </a:r>
            <a:endParaRPr lang="en-US" sz="1600" dirty="0"/>
          </a:p>
        </p:txBody>
      </p:sp>
      <p:sp>
        <p:nvSpPr>
          <p:cNvPr id="15" name="Text 10"/>
          <p:cNvSpPr/>
          <p:nvPr/>
        </p:nvSpPr>
        <p:spPr>
          <a:xfrm>
            <a:off x="8201812" y="3727648"/>
            <a:ext cx="3143965" cy="1174155"/>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Percentage contribution to total revenue</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Cumulative revenue over time</a:t>
            </a:r>
            <a:endParaRPr lang="en-US" sz="1300" dirty="0"/>
          </a:p>
          <a:p>
            <a:pPr algn="l" marL="264160" indent="-264160">
              <a:lnSpc>
                <a:spcPct val="133000"/>
              </a:lnSpc>
              <a:buSzPct val="100000"/>
              <a:buChar char="•"/>
            </a:pPr>
            <a:r>
              <a:rPr lang="en-US" sz="1300" dirty="0">
                <a:solidFill>
                  <a:srgbClr val="55575A"/>
                </a:solidFill>
                <a:latin typeface="Roboto Condensed" pitchFamily="34" charset="0"/>
                <a:ea typeface="Roboto Condensed" pitchFamily="34" charset="-122"/>
                <a:cs typeface="Roboto Condensed" pitchFamily="34" charset="-120"/>
              </a:rPr>
              <a:t>Top 3 revenue-generating pizzas within every category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59011"/>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C0D0F"/>
                </a:solidFill>
                <a:latin typeface="Hubot Sans Bold" pitchFamily="34" charset="0"/>
                <a:ea typeface="Hubot Sans Bold" pitchFamily="34" charset="-122"/>
                <a:cs typeface="Hubot Sans Bold" pitchFamily="34" charset="-120"/>
              </a:rPr>
              <a:t>BASIC KPI RESULTS</a:t>
            </a:r>
            <a:endParaRPr lang="en-US" sz="3250" dirty="0"/>
          </a:p>
        </p:txBody>
      </p:sp>
      <p:sp>
        <p:nvSpPr>
          <p:cNvPr id="3" name="Text 1"/>
          <p:cNvSpPr/>
          <p:nvPr/>
        </p:nvSpPr>
        <p:spPr>
          <a:xfrm>
            <a:off x="661475" y="1506438"/>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55575A"/>
                </a:solidFill>
                <a:latin typeface="Roboto Condensed" pitchFamily="34" charset="0"/>
                <a:ea typeface="Roboto Condensed" pitchFamily="34" charset="-122"/>
                <a:cs typeface="Roboto Condensed" pitchFamily="34" charset="-120"/>
              </a:rPr>
              <a:t>These key performance indicators provide an immediate snapshot of overall business performance. Revenue was calculated by multiplying quantity by pizza price across all orders.</a:t>
            </a:r>
            <a:endParaRPr lang="en-US" sz="1300" dirty="0"/>
          </a:p>
        </p:txBody>
      </p:sp>
      <p:sp>
        <p:nvSpPr>
          <p:cNvPr id="4" name="Text 2"/>
          <p:cNvSpPr/>
          <p:nvPr/>
        </p:nvSpPr>
        <p:spPr>
          <a:xfrm>
            <a:off x="661475" y="2304355"/>
            <a:ext cx="3485071" cy="545802"/>
          </a:xfrm>
          <a:prstGeom prst="rect">
            <a:avLst/>
          </a:prstGeom>
          <a:noFill/>
          <a:ln/>
        </p:spPr>
        <p:txBody>
          <a:bodyPr wrap="none" lIns="0" tIns="0" rIns="0" bIns="0" rtlCol="0" anchor="t"/>
          <a:lstStyle/>
          <a:p>
            <a:pPr algn="ctr" indent="0" marL="0">
              <a:lnSpc>
                <a:spcPct val="83000"/>
              </a:lnSpc>
              <a:buNone/>
            </a:pPr>
            <a:r>
              <a:rPr lang="en-US" sz="4250" b="1" dirty="0">
                <a:solidFill>
                  <a:srgbClr val="55575A"/>
                </a:solidFill>
                <a:latin typeface="Hubot Sans Bold" pitchFamily="34" charset="0"/>
                <a:ea typeface="Hubot Sans Bold" pitchFamily="34" charset="-122"/>
                <a:cs typeface="Hubot Sans Bold" pitchFamily="34" charset="-120"/>
              </a:rPr>
              <a:t>$81,760</a:t>
            </a:r>
            <a:endParaRPr lang="en-US" sz="4250" dirty="0"/>
          </a:p>
        </p:txBody>
      </p:sp>
      <p:sp>
        <p:nvSpPr>
          <p:cNvPr id="5" name="Text 3"/>
          <p:cNvSpPr/>
          <p:nvPr/>
        </p:nvSpPr>
        <p:spPr>
          <a:xfrm>
            <a:off x="661475" y="3056830"/>
            <a:ext cx="3485071" cy="258465"/>
          </a:xfrm>
          <a:prstGeom prst="rect">
            <a:avLst/>
          </a:prstGeom>
          <a:noFill/>
          <a:ln/>
        </p:spPr>
        <p:txBody>
          <a:bodyPr wrap="none" lIns="0" tIns="0" rIns="0" bIns="0" rtlCol="0" anchor="t"/>
          <a:lstStyle/>
          <a:p>
            <a:pPr algn="ctr" indent="0" marL="0">
              <a:lnSpc>
                <a:spcPct val="104000"/>
              </a:lnSpc>
              <a:buNone/>
            </a:pPr>
            <a:r>
              <a:rPr lang="en-US" sz="1600" b="1" dirty="0">
                <a:solidFill>
                  <a:srgbClr val="55575A"/>
                </a:solidFill>
                <a:latin typeface="Hubot Sans Bold" pitchFamily="34" charset="0"/>
                <a:ea typeface="Hubot Sans Bold" pitchFamily="34" charset="-122"/>
                <a:cs typeface="Hubot Sans Bold" pitchFamily="34" charset="-120"/>
              </a:rPr>
              <a:t>TOTAL REVENUE</a:t>
            </a:r>
            <a:endParaRPr lang="en-US" sz="1600" dirty="0"/>
          </a:p>
        </p:txBody>
      </p:sp>
      <p:sp>
        <p:nvSpPr>
          <p:cNvPr id="6" name="Text 4"/>
          <p:cNvSpPr/>
          <p:nvPr/>
        </p:nvSpPr>
        <p:spPr>
          <a:xfrm>
            <a:off x="661475" y="3414514"/>
            <a:ext cx="3485071" cy="264616"/>
          </a:xfrm>
          <a:prstGeom prst="rect">
            <a:avLst/>
          </a:prstGeom>
          <a:noFill/>
          <a:ln/>
        </p:spPr>
        <p:txBody>
          <a:bodyPr wrap="none" lIns="0" tIns="0" rIns="0" bIns="0" rtlCol="0" anchor="t"/>
          <a:lstStyle/>
          <a:p>
            <a:pPr algn="ctr" indent="0" marL="0">
              <a:lnSpc>
                <a:spcPct val="133000"/>
              </a:lnSpc>
              <a:buNone/>
            </a:pPr>
            <a:r>
              <a:rPr lang="en-US" sz="1300" dirty="0">
                <a:solidFill>
                  <a:srgbClr val="55575A"/>
                </a:solidFill>
                <a:latin typeface="Roboto Condensed" pitchFamily="34" charset="0"/>
                <a:ea typeface="Roboto Condensed" pitchFamily="34" charset="-122"/>
                <a:cs typeface="Roboto Condensed" pitchFamily="34" charset="-120"/>
              </a:rPr>
              <a:t>Calculated as SUM(quantity × price) across all orders</a:t>
            </a:r>
            <a:endParaRPr lang="en-US" sz="1300" dirty="0"/>
          </a:p>
        </p:txBody>
      </p:sp>
      <p:sp>
        <p:nvSpPr>
          <p:cNvPr id="7" name="Text 5"/>
          <p:cNvSpPr/>
          <p:nvPr/>
        </p:nvSpPr>
        <p:spPr>
          <a:xfrm>
            <a:off x="4353213" y="2304355"/>
            <a:ext cx="3485170" cy="545802"/>
          </a:xfrm>
          <a:prstGeom prst="rect">
            <a:avLst/>
          </a:prstGeom>
          <a:noFill/>
          <a:ln/>
        </p:spPr>
        <p:txBody>
          <a:bodyPr wrap="none" lIns="0" tIns="0" rIns="0" bIns="0" rtlCol="0" anchor="t"/>
          <a:lstStyle/>
          <a:p>
            <a:pPr algn="ctr" indent="0" marL="0">
              <a:lnSpc>
                <a:spcPct val="83000"/>
              </a:lnSpc>
              <a:buNone/>
            </a:pPr>
            <a:r>
              <a:rPr lang="en-US" sz="4250" b="1" dirty="0">
                <a:solidFill>
                  <a:srgbClr val="55575A"/>
                </a:solidFill>
                <a:latin typeface="Hubot Sans Bold" pitchFamily="34" charset="0"/>
                <a:ea typeface="Hubot Sans Bold" pitchFamily="34" charset="-122"/>
                <a:cs typeface="Hubot Sans Bold" pitchFamily="34" charset="-120"/>
              </a:rPr>
              <a:t>$35.95</a:t>
            </a:r>
            <a:endParaRPr lang="en-US" sz="4250" dirty="0"/>
          </a:p>
        </p:txBody>
      </p:sp>
      <p:sp>
        <p:nvSpPr>
          <p:cNvPr id="8" name="Text 6"/>
          <p:cNvSpPr/>
          <p:nvPr/>
        </p:nvSpPr>
        <p:spPr>
          <a:xfrm>
            <a:off x="4353213" y="3056830"/>
            <a:ext cx="3485170" cy="258465"/>
          </a:xfrm>
          <a:prstGeom prst="rect">
            <a:avLst/>
          </a:prstGeom>
          <a:noFill/>
          <a:ln/>
        </p:spPr>
        <p:txBody>
          <a:bodyPr wrap="none" lIns="0" tIns="0" rIns="0" bIns="0" rtlCol="0" anchor="t"/>
          <a:lstStyle/>
          <a:p>
            <a:pPr algn="ctr" indent="0" marL="0">
              <a:lnSpc>
                <a:spcPct val="104000"/>
              </a:lnSpc>
              <a:buNone/>
            </a:pPr>
            <a:r>
              <a:rPr lang="en-US" sz="1600" b="1" dirty="0">
                <a:solidFill>
                  <a:srgbClr val="55575A"/>
                </a:solidFill>
                <a:latin typeface="Hubot Sans Bold" pitchFamily="34" charset="0"/>
                <a:ea typeface="Hubot Sans Bold" pitchFamily="34" charset="-122"/>
                <a:cs typeface="Hubot Sans Bold" pitchFamily="34" charset="-120"/>
              </a:rPr>
              <a:t>HIGHEST PRICE</a:t>
            </a:r>
            <a:endParaRPr lang="en-US" sz="1600" dirty="0"/>
          </a:p>
        </p:txBody>
      </p:sp>
      <p:sp>
        <p:nvSpPr>
          <p:cNvPr id="9" name="Text 7"/>
          <p:cNvSpPr/>
          <p:nvPr/>
        </p:nvSpPr>
        <p:spPr>
          <a:xfrm>
            <a:off x="4353213" y="3414514"/>
            <a:ext cx="3485170" cy="264616"/>
          </a:xfrm>
          <a:prstGeom prst="rect">
            <a:avLst/>
          </a:prstGeom>
          <a:noFill/>
          <a:ln/>
        </p:spPr>
        <p:txBody>
          <a:bodyPr wrap="none" lIns="0" tIns="0" rIns="0" bIns="0" rtlCol="0" anchor="t"/>
          <a:lstStyle/>
          <a:p>
            <a:pPr algn="ctr" indent="0" marL="0">
              <a:lnSpc>
                <a:spcPct val="133000"/>
              </a:lnSpc>
              <a:buNone/>
            </a:pPr>
            <a:r>
              <a:rPr lang="en-US" sz="1300" dirty="0">
                <a:solidFill>
                  <a:srgbClr val="55575A"/>
                </a:solidFill>
                <a:latin typeface="Roboto Condensed" pitchFamily="34" charset="0"/>
                <a:ea typeface="Roboto Condensed" pitchFamily="34" charset="-122"/>
                <a:cs typeface="Roboto Condensed" pitchFamily="34" charset="-120"/>
              </a:rPr>
              <a:t>The Greek Pizza — most expensive item on the menu</a:t>
            </a:r>
            <a:endParaRPr lang="en-US" sz="1300" dirty="0"/>
          </a:p>
        </p:txBody>
      </p:sp>
      <p:sp>
        <p:nvSpPr>
          <p:cNvPr id="10" name="Text 8"/>
          <p:cNvSpPr/>
          <p:nvPr/>
        </p:nvSpPr>
        <p:spPr>
          <a:xfrm>
            <a:off x="8045050" y="2304355"/>
            <a:ext cx="3485170" cy="545802"/>
          </a:xfrm>
          <a:prstGeom prst="rect">
            <a:avLst/>
          </a:prstGeom>
          <a:noFill/>
          <a:ln/>
        </p:spPr>
        <p:txBody>
          <a:bodyPr wrap="none" lIns="0" tIns="0" rIns="0" bIns="0" rtlCol="0" anchor="t"/>
          <a:lstStyle/>
          <a:p>
            <a:pPr algn="ctr" indent="0" marL="0">
              <a:lnSpc>
                <a:spcPct val="83000"/>
              </a:lnSpc>
              <a:buNone/>
            </a:pPr>
            <a:r>
              <a:rPr lang="en-US" sz="4250" b="1" dirty="0">
                <a:solidFill>
                  <a:srgbClr val="55575A"/>
                </a:solidFill>
                <a:latin typeface="Hubot Sans Bold" pitchFamily="34" charset="0"/>
                <a:ea typeface="Hubot Sans Bold" pitchFamily="34" charset="-122"/>
                <a:cs typeface="Hubot Sans Bold" pitchFamily="34" charset="-120"/>
              </a:rPr>
              <a:t>138</a:t>
            </a:r>
            <a:endParaRPr lang="en-US" sz="4250" dirty="0"/>
          </a:p>
        </p:txBody>
      </p:sp>
      <p:sp>
        <p:nvSpPr>
          <p:cNvPr id="11" name="Text 9"/>
          <p:cNvSpPr/>
          <p:nvPr/>
        </p:nvSpPr>
        <p:spPr>
          <a:xfrm>
            <a:off x="8045050" y="3056830"/>
            <a:ext cx="3485170" cy="258465"/>
          </a:xfrm>
          <a:prstGeom prst="rect">
            <a:avLst/>
          </a:prstGeom>
          <a:noFill/>
          <a:ln/>
        </p:spPr>
        <p:txBody>
          <a:bodyPr wrap="none" lIns="0" tIns="0" rIns="0" bIns="0" rtlCol="0" anchor="t"/>
          <a:lstStyle/>
          <a:p>
            <a:pPr algn="ctr" indent="0" marL="0">
              <a:lnSpc>
                <a:spcPct val="104000"/>
              </a:lnSpc>
              <a:buNone/>
            </a:pPr>
            <a:r>
              <a:rPr lang="en-US" sz="1600" b="1" dirty="0">
                <a:solidFill>
                  <a:srgbClr val="55575A"/>
                </a:solidFill>
                <a:latin typeface="Hubot Sans Bold" pitchFamily="34" charset="0"/>
                <a:ea typeface="Hubot Sans Bold" pitchFamily="34" charset="-122"/>
                <a:cs typeface="Hubot Sans Bold" pitchFamily="34" charset="-120"/>
              </a:rPr>
              <a:t>AVG. PIZZAS/DAY</a:t>
            </a:r>
            <a:endParaRPr lang="en-US" sz="1600" dirty="0"/>
          </a:p>
        </p:txBody>
      </p:sp>
      <p:sp>
        <p:nvSpPr>
          <p:cNvPr id="12" name="Text 10"/>
          <p:cNvSpPr/>
          <p:nvPr/>
        </p:nvSpPr>
        <p:spPr>
          <a:xfrm>
            <a:off x="8045050" y="3414514"/>
            <a:ext cx="3485170" cy="264616"/>
          </a:xfrm>
          <a:prstGeom prst="rect">
            <a:avLst/>
          </a:prstGeom>
          <a:noFill/>
          <a:ln/>
        </p:spPr>
        <p:txBody>
          <a:bodyPr wrap="none" lIns="0" tIns="0" rIns="0" bIns="0" rtlCol="0" anchor="t"/>
          <a:lstStyle/>
          <a:p>
            <a:pPr algn="ctr" indent="0" marL="0">
              <a:lnSpc>
                <a:spcPct val="133000"/>
              </a:lnSpc>
              <a:buNone/>
            </a:pPr>
            <a:r>
              <a:rPr lang="en-US" sz="1300" dirty="0">
                <a:solidFill>
                  <a:srgbClr val="55575A"/>
                </a:solidFill>
                <a:latin typeface="Roboto Condensed" pitchFamily="34" charset="0"/>
                <a:ea typeface="Roboto Condensed" pitchFamily="34" charset="-122"/>
                <a:cs typeface="Roboto Condensed" pitchFamily="34" charset="-120"/>
              </a:rPr>
              <a:t>138.47 pizzas sold per day on average</a:t>
            </a:r>
            <a:endParaRPr lang="en-US" sz="1300" dirty="0"/>
          </a:p>
        </p:txBody>
      </p:sp>
      <p:sp>
        <p:nvSpPr>
          <p:cNvPr id="13" name="Shape 11"/>
          <p:cNvSpPr/>
          <p:nvPr/>
        </p:nvSpPr>
        <p:spPr>
          <a:xfrm>
            <a:off x="542415" y="3865166"/>
            <a:ext cx="5470785" cy="2333724"/>
          </a:xfrm>
          <a:prstGeom prst="roundRect">
            <a:avLst>
              <a:gd name="adj" fmla="val 1063"/>
            </a:avLst>
          </a:prstGeom>
          <a:solidFill>
            <a:srgbClr val="1E1E1A"/>
          </a:solidFill>
          <a:ln/>
        </p:spPr>
      </p:sp>
      <p:sp>
        <p:nvSpPr>
          <p:cNvPr id="14" name="Text 12"/>
          <p:cNvSpPr/>
          <p:nvPr/>
        </p:nvSpPr>
        <p:spPr>
          <a:xfrm>
            <a:off x="707710" y="4030464"/>
            <a:ext cx="5140196" cy="258465"/>
          </a:xfrm>
          <a:prstGeom prst="rect">
            <a:avLst/>
          </a:prstGeom>
          <a:noFill/>
          <a:ln/>
        </p:spPr>
        <p:txBody>
          <a:bodyPr wrap="none" lIns="0" tIns="0" rIns="0" bIns="0" rtlCol="0" anchor="t"/>
          <a:lstStyle/>
          <a:p>
            <a:pPr algn="l" indent="0" marL="0">
              <a:lnSpc>
                <a:spcPct val="104000"/>
              </a:lnSpc>
              <a:buNone/>
            </a:pPr>
            <a:r>
              <a:rPr lang="en-US" sz="1600" b="1" dirty="0">
                <a:solidFill>
                  <a:srgbClr val="FFFFFF"/>
                </a:solidFill>
                <a:latin typeface="Hubot Sans Bold" pitchFamily="34" charset="0"/>
                <a:ea typeface="Hubot Sans Bold" pitchFamily="34" charset="-122"/>
                <a:cs typeface="Hubot Sans Bold" pitchFamily="34" charset="-120"/>
              </a:rPr>
              <a:t>MOST COMMON PIZZA SIZE</a:t>
            </a:r>
            <a:endParaRPr lang="en-US" sz="1600" dirty="0"/>
          </a:p>
        </p:txBody>
      </p:sp>
      <p:sp>
        <p:nvSpPr>
          <p:cNvPr id="15" name="Text 13"/>
          <p:cNvSpPr/>
          <p:nvPr/>
        </p:nvSpPr>
        <p:spPr>
          <a:xfrm>
            <a:off x="707710" y="4454227"/>
            <a:ext cx="5140196" cy="529233"/>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FFFFFF"/>
                </a:solidFill>
                <a:latin typeface="Roboto Condensed Bold" pitchFamily="34" charset="0"/>
                <a:ea typeface="Roboto Condensed Bold" pitchFamily="34" charset="-122"/>
                <a:cs typeface="Roboto Condensed Bold" pitchFamily="34" charset="-120"/>
              </a:rPr>
              <a:t>Large (L)</a:t>
            </a:r>
            <a:pPr algn="l" indent="0" marL="0">
              <a:lnSpc>
                <a:spcPct val="133000"/>
              </a:lnSpc>
              <a:buNone/>
            </a:pPr>
            <a:r>
              <a:rPr lang="en-US" sz="1300" dirty="0">
                <a:solidFill>
                  <a:srgbClr val="FFFFFF"/>
                </a:solidFill>
                <a:latin typeface="Roboto Condensed" pitchFamily="34" charset="0"/>
                <a:ea typeface="Roboto Condensed" pitchFamily="34" charset="-122"/>
                <a:cs typeface="Roboto Condensed" pitchFamily="34" charset="-120"/>
              </a:rPr>
              <a:t> is the most frequently ordered size — a key signal for inventory and promotional focus.</a:t>
            </a:r>
            <a:endParaRPr lang="en-US" sz="1300" dirty="0"/>
          </a:p>
        </p:txBody>
      </p:sp>
      <p:sp>
        <p:nvSpPr>
          <p:cNvPr id="16" name="Text 14"/>
          <p:cNvSpPr/>
          <p:nvPr/>
        </p:nvSpPr>
        <p:spPr>
          <a:xfrm>
            <a:off x="6303904" y="4030464"/>
            <a:ext cx="5232666" cy="258465"/>
          </a:xfrm>
          <a:prstGeom prst="rect">
            <a:avLst/>
          </a:prstGeom>
          <a:noFill/>
          <a:ln/>
        </p:spPr>
        <p:txBody>
          <a:bodyPr wrap="none" lIns="0" tIns="0" rIns="0" bIns="0" rtlCol="0" anchor="t"/>
          <a:lstStyle/>
          <a:p>
            <a:pPr algn="l" indent="0" marL="0">
              <a:lnSpc>
                <a:spcPct val="104000"/>
              </a:lnSpc>
              <a:buNone/>
            </a:pPr>
            <a:r>
              <a:rPr lang="en-US" sz="1600" b="1" dirty="0">
                <a:solidFill>
                  <a:srgbClr val="0C0D0F"/>
                </a:solidFill>
                <a:latin typeface="Hubot Sans Bold" pitchFamily="34" charset="0"/>
                <a:ea typeface="Hubot Sans Bold" pitchFamily="34" charset="-122"/>
                <a:cs typeface="Hubot Sans Bold" pitchFamily="34" charset="-120"/>
              </a:rPr>
              <a:t>TOTAL ORDERS QUERY</a:t>
            </a:r>
            <a:endParaRPr lang="en-US" sz="1600" dirty="0"/>
          </a:p>
        </p:txBody>
      </p:sp>
      <p:sp>
        <p:nvSpPr>
          <p:cNvPr id="17" name="Shape 15"/>
          <p:cNvSpPr/>
          <p:nvPr/>
        </p:nvSpPr>
        <p:spPr>
          <a:xfrm>
            <a:off x="6303904" y="4474964"/>
            <a:ext cx="5232666" cy="1124446"/>
          </a:xfrm>
          <a:prstGeom prst="roundRect">
            <a:avLst>
              <a:gd name="adj" fmla="val 2206"/>
            </a:avLst>
          </a:prstGeom>
          <a:solidFill>
            <a:srgbClr val="DBDBD6"/>
          </a:solidFill>
          <a:ln/>
        </p:spPr>
      </p:sp>
      <p:sp>
        <p:nvSpPr>
          <p:cNvPr id="18" name="Text 16"/>
          <p:cNvSpPr/>
          <p:nvPr/>
        </p:nvSpPr>
        <p:spPr>
          <a:xfrm>
            <a:off x="6502337" y="4640263"/>
            <a:ext cx="4835801"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SELECT COUNT(DISTINCT order_id)</a:t>
            </a:r>
            <a:endParaRPr lang="en-US" sz="1300" dirty="0"/>
          </a:p>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  AS total_orders</a:t>
            </a:r>
            <a:endParaRPr lang="en-US" sz="1300" dirty="0"/>
          </a:p>
          <a:p>
            <a:pPr algn="l" indent="0" marL="0">
              <a:lnSpc>
                <a:spcPct val="133000"/>
              </a:lnSpc>
              <a:buNone/>
            </a:pPr>
            <a:r>
              <a:rPr lang="en-US" sz="1300" dirty="0">
                <a:solidFill>
                  <a:srgbClr val="D73A49"/>
                </a:solidFill>
                <a:latin typeface="Consolas" pitchFamily="34" charset="0"/>
                <a:ea typeface="Consolas" pitchFamily="34" charset="-122"/>
                <a:cs typeface="Consolas" pitchFamily="34" charset="-120"/>
              </a:rPr>
              <a:t>FROM orders;</a:t>
            </a:r>
            <a:endParaRPr lang="en-US" sz="1300" dirty="0"/>
          </a:p>
        </p:txBody>
      </p:sp>
      <p:sp>
        <p:nvSpPr>
          <p:cNvPr id="19" name="Text 17"/>
          <p:cNvSpPr/>
          <p:nvPr/>
        </p:nvSpPr>
        <p:spPr>
          <a:xfrm>
            <a:off x="6303904" y="5785445"/>
            <a:ext cx="5842251" cy="264616"/>
          </a:xfrm>
          <a:prstGeom prst="rect">
            <a:avLst/>
          </a:prstGeom>
          <a:noFill/>
          <a:ln/>
        </p:spPr>
        <p:txBody>
          <a:bodyPr wrap="none" lIns="0" tIns="0" rIns="0" bIns="0" rtlCol="0" anchor="t"/>
          <a:lstStyle/>
          <a:p>
            <a:pPr algn="l" indent="0" marL="0">
              <a:lnSpc>
                <a:spcPct val="133000"/>
              </a:lnSpc>
              <a:buNone/>
            </a:pPr>
            <a:r>
              <a:rPr lang="en-US" sz="1300" i="1" dirty="0">
                <a:solidFill>
                  <a:srgbClr val="55575A"/>
                </a:solidFill>
                <a:latin typeface="Roboto Condensed" pitchFamily="34" charset="0"/>
                <a:ea typeface="Roboto Condensed" pitchFamily="34" charset="-122"/>
                <a:cs typeface="Roboto Condensed" pitchFamily="34" charset="-120"/>
              </a:rPr>
              <a:t>Total orders: To be calculated from the database.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91827"/>
            <a:ext cx="10868745" cy="387648"/>
          </a:xfrm>
          <a:prstGeom prst="rect">
            <a:avLst/>
          </a:prstGeom>
          <a:noFill/>
          <a:ln/>
        </p:spPr>
        <p:txBody>
          <a:bodyPr wrap="none" lIns="0" tIns="0" rIns="0" bIns="0" rtlCol="0" anchor="t"/>
          <a:lstStyle/>
          <a:p>
            <a:pPr algn="l" indent="0" marL="0">
              <a:lnSpc>
                <a:spcPct val="104000"/>
              </a:lnSpc>
              <a:buNone/>
            </a:pPr>
            <a:r>
              <a:rPr lang="en-US" sz="2400" b="1" dirty="0">
                <a:solidFill>
                  <a:srgbClr val="0C0D0F"/>
                </a:solidFill>
                <a:latin typeface="Hubot Sans Bold" pitchFamily="34" charset="0"/>
                <a:ea typeface="Hubot Sans Bold" pitchFamily="34" charset="-122"/>
                <a:cs typeface="Hubot Sans Bold" pitchFamily="34" charset="-120"/>
              </a:rPr>
              <a:t>SQL SOLUTIONS — BASIC ANALYSIS</a:t>
            </a:r>
            <a:endParaRPr lang="en-US" sz="2400" dirty="0"/>
          </a:p>
        </p:txBody>
      </p:sp>
      <p:sp>
        <p:nvSpPr>
          <p:cNvPr id="3" name="Text 1"/>
          <p:cNvSpPr/>
          <p:nvPr/>
        </p:nvSpPr>
        <p:spPr>
          <a:xfrm>
            <a:off x="661475" y="1065510"/>
            <a:ext cx="11478330" cy="173633"/>
          </a:xfrm>
          <a:prstGeom prst="rect">
            <a:avLst/>
          </a:prstGeom>
          <a:noFill/>
          <a:ln/>
        </p:spPr>
        <p:txBody>
          <a:bodyPr wrap="none" lIns="0" tIns="0" rIns="0" bIns="0" rtlCol="0" anchor="t"/>
          <a:lstStyle/>
          <a:p>
            <a:pPr algn="l" indent="0" marL="0">
              <a:lnSpc>
                <a:spcPct val="117000"/>
              </a:lnSpc>
              <a:buNone/>
            </a:pPr>
            <a:r>
              <a:rPr lang="en-US" sz="950" dirty="0">
                <a:solidFill>
                  <a:srgbClr val="55575A"/>
                </a:solidFill>
                <a:latin typeface="Roboto Condensed" pitchFamily="34" charset="0"/>
                <a:ea typeface="Roboto Condensed" pitchFamily="34" charset="-122"/>
                <a:cs typeface="Roboto Condensed" pitchFamily="34" charset="-120"/>
              </a:rPr>
              <a:t>These three queries demonstrate foundational SQL concepts: aggregation, JOINs, sorting, and limiting results. Each query builds on the previous to show how SQL answers progressively complex business questions.</a:t>
            </a:r>
            <a:endParaRPr lang="en-US" sz="950" dirty="0"/>
          </a:p>
        </p:txBody>
      </p:sp>
      <p:sp>
        <p:nvSpPr>
          <p:cNvPr id="4" name="Text 2"/>
          <p:cNvSpPr/>
          <p:nvPr/>
        </p:nvSpPr>
        <p:spPr>
          <a:xfrm>
            <a:off x="661475" y="1436688"/>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0C0D0F"/>
                </a:solidFill>
                <a:latin typeface="Hubot Sans Bold" pitchFamily="34" charset="0"/>
                <a:ea typeface="Hubot Sans Bold" pitchFamily="34" charset="-122"/>
                <a:cs typeface="Hubot Sans Bold" pitchFamily="34" charset="-120"/>
              </a:rPr>
              <a:t>QUERY 1 — TOTAL ORDERS</a:t>
            </a:r>
            <a:endParaRPr lang="en-US" sz="1200" dirty="0"/>
          </a:p>
        </p:txBody>
      </p:sp>
      <p:sp>
        <p:nvSpPr>
          <p:cNvPr id="5" name="Shape 3"/>
          <p:cNvSpPr/>
          <p:nvPr/>
        </p:nvSpPr>
        <p:spPr>
          <a:xfrm>
            <a:off x="661475" y="1735038"/>
            <a:ext cx="5283068" cy="843359"/>
          </a:xfrm>
          <a:prstGeom prst="roundRect">
            <a:avLst>
              <a:gd name="adj" fmla="val 2206"/>
            </a:avLst>
          </a:prstGeom>
          <a:solidFill>
            <a:srgbClr val="DBDBD6"/>
          </a:solidFill>
          <a:ln/>
        </p:spPr>
      </p:sp>
      <p:sp>
        <p:nvSpPr>
          <p:cNvPr id="6" name="Text 4"/>
          <p:cNvSpPr/>
          <p:nvPr/>
        </p:nvSpPr>
        <p:spPr>
          <a:xfrm>
            <a:off x="810299" y="1859062"/>
            <a:ext cx="4985419" cy="59531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D73A49"/>
                </a:solidFill>
                <a:latin typeface="Consolas" pitchFamily="34" charset="0"/>
                <a:ea typeface="Consolas" pitchFamily="34" charset="-122"/>
                <a:cs typeface="Consolas" pitchFamily="34" charset="-120"/>
              </a:rPr>
              <a:t>SELECT COUNT(DISTINCT order_id)</a:t>
            </a:r>
            <a:endParaRPr lang="en-US" sz="950" dirty="0"/>
          </a:p>
          <a:p>
            <a:pPr algn="l" indent="0" marL="0">
              <a:lnSpc>
                <a:spcPct val="133000"/>
              </a:lnSpc>
              <a:buNone/>
            </a:pPr>
            <a:r>
              <a:rPr lang="en-US" sz="950" dirty="0">
                <a:solidFill>
                  <a:srgbClr val="D73A49"/>
                </a:solidFill>
                <a:latin typeface="Consolas" pitchFamily="34" charset="0"/>
                <a:ea typeface="Consolas" pitchFamily="34" charset="-122"/>
                <a:cs typeface="Consolas" pitchFamily="34" charset="-120"/>
              </a:rPr>
              <a:t>  AS total_orders</a:t>
            </a:r>
            <a:endParaRPr lang="en-US" sz="950" dirty="0"/>
          </a:p>
          <a:p>
            <a:pPr algn="l" indent="0" marL="0">
              <a:lnSpc>
                <a:spcPct val="133000"/>
              </a:lnSpc>
              <a:buNone/>
            </a:pPr>
            <a:r>
              <a:rPr lang="en-US" sz="950" dirty="0">
                <a:solidFill>
                  <a:srgbClr val="D73A49"/>
                </a:solidFill>
                <a:latin typeface="Consolas" pitchFamily="34" charset="0"/>
                <a:ea typeface="Consolas" pitchFamily="34" charset="-122"/>
                <a:cs typeface="Consolas" pitchFamily="34" charset="-120"/>
              </a:rPr>
              <a:t>FROM orders;</a:t>
            </a:r>
            <a:endParaRPr lang="en-US" sz="950" dirty="0"/>
          </a:p>
        </p:txBody>
      </p:sp>
      <p:sp>
        <p:nvSpPr>
          <p:cNvPr id="7" name="Text 5"/>
          <p:cNvSpPr/>
          <p:nvPr/>
        </p:nvSpPr>
        <p:spPr>
          <a:xfrm>
            <a:off x="661475" y="2682974"/>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0C0D0F"/>
                </a:solidFill>
                <a:latin typeface="Hubot Sans Bold" pitchFamily="34" charset="0"/>
                <a:ea typeface="Hubot Sans Bold" pitchFamily="34" charset="-122"/>
                <a:cs typeface="Hubot Sans Bold" pitchFamily="34" charset="-120"/>
              </a:rPr>
              <a:t>QUERY 2 — TOTAL REVENUE</a:t>
            </a:r>
            <a:endParaRPr lang="en-US" sz="1200" dirty="0"/>
          </a:p>
        </p:txBody>
      </p:sp>
      <p:sp>
        <p:nvSpPr>
          <p:cNvPr id="8" name="Shape 6"/>
          <p:cNvSpPr/>
          <p:nvPr/>
        </p:nvSpPr>
        <p:spPr>
          <a:xfrm>
            <a:off x="661475" y="2981325"/>
            <a:ext cx="5283068" cy="1438672"/>
          </a:xfrm>
          <a:prstGeom prst="roundRect">
            <a:avLst>
              <a:gd name="adj" fmla="val 1293"/>
            </a:avLst>
          </a:prstGeom>
          <a:solidFill>
            <a:srgbClr val="DBDBD6"/>
          </a:solidFill>
          <a:ln/>
        </p:spPr>
      </p:sp>
      <p:sp>
        <p:nvSpPr>
          <p:cNvPr id="9" name="Text 7"/>
          <p:cNvSpPr/>
          <p:nvPr/>
        </p:nvSpPr>
        <p:spPr>
          <a:xfrm>
            <a:off x="810299" y="3105348"/>
            <a:ext cx="4985419" cy="11906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SELECT ROUND(</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  SUM(od.quantity * p.price), 2</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 AS total_revenue</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FROM order_details od</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JOIN pizzas p</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  ON p.pizza_id = od.pizza_id;</a:t>
            </a:r>
            <a:endParaRPr lang="en-US" sz="950" dirty="0"/>
          </a:p>
        </p:txBody>
      </p:sp>
      <p:sp>
        <p:nvSpPr>
          <p:cNvPr id="10" name="Text 8"/>
          <p:cNvSpPr/>
          <p:nvPr/>
        </p:nvSpPr>
        <p:spPr>
          <a:xfrm>
            <a:off x="661475" y="4524573"/>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0C0D0F"/>
                </a:solidFill>
                <a:latin typeface="Hubot Sans Bold" pitchFamily="34" charset="0"/>
                <a:ea typeface="Hubot Sans Bold" pitchFamily="34" charset="-122"/>
                <a:cs typeface="Hubot Sans Bold" pitchFamily="34" charset="-120"/>
              </a:rPr>
              <a:t>QUERY 3 — HIGHEST-PRICED PIZZA</a:t>
            </a:r>
            <a:endParaRPr lang="en-US" sz="1200" dirty="0"/>
          </a:p>
        </p:txBody>
      </p:sp>
      <p:sp>
        <p:nvSpPr>
          <p:cNvPr id="11" name="Shape 9"/>
          <p:cNvSpPr/>
          <p:nvPr/>
        </p:nvSpPr>
        <p:spPr>
          <a:xfrm>
            <a:off x="661475" y="4822924"/>
            <a:ext cx="5283068" cy="1438672"/>
          </a:xfrm>
          <a:prstGeom prst="roundRect">
            <a:avLst>
              <a:gd name="adj" fmla="val 1293"/>
            </a:avLst>
          </a:prstGeom>
          <a:solidFill>
            <a:srgbClr val="DBDBD6"/>
          </a:solidFill>
          <a:ln/>
        </p:spPr>
      </p:sp>
      <p:sp>
        <p:nvSpPr>
          <p:cNvPr id="12" name="Text 10"/>
          <p:cNvSpPr/>
          <p:nvPr/>
        </p:nvSpPr>
        <p:spPr>
          <a:xfrm>
            <a:off x="810299" y="4946948"/>
            <a:ext cx="4985419" cy="11906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SELECT pt.name, p.price</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FROM pizza_types pt</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JOIN pizzas p</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  ON p.pizza_type_id = pt.pizza_type_id</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ORDER BY p.price DESC</a:t>
            </a:r>
            <a:endParaRPr lang="en-US" sz="950" dirty="0"/>
          </a:p>
          <a:p>
            <a:pPr algn="l" indent="0" marL="0">
              <a:lnSpc>
                <a:spcPct val="133000"/>
              </a:lnSpc>
              <a:buNone/>
            </a:pPr>
            <a:r>
              <a:rPr lang="en-US" sz="950" dirty="0">
                <a:solidFill>
                  <a:srgbClr val="22863A"/>
                </a:solidFill>
                <a:latin typeface="Consolas" pitchFamily="34" charset="0"/>
                <a:ea typeface="Consolas" pitchFamily="34" charset="-122"/>
                <a:cs typeface="Consolas" pitchFamily="34" charset="-120"/>
              </a:rPr>
              <a:t>LIMIT 1;</a:t>
            </a:r>
            <a:endParaRPr lang="en-US" sz="950" dirty="0"/>
          </a:p>
        </p:txBody>
      </p:sp>
      <p:sp>
        <p:nvSpPr>
          <p:cNvPr id="13" name="Text 11"/>
          <p:cNvSpPr/>
          <p:nvPr/>
        </p:nvSpPr>
        <p:spPr>
          <a:xfrm>
            <a:off x="6253502" y="1436688"/>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0C0D0F"/>
                </a:solidFill>
                <a:latin typeface="Hubot Sans Bold" pitchFamily="34" charset="0"/>
                <a:ea typeface="Hubot Sans Bold" pitchFamily="34" charset="-122"/>
                <a:cs typeface="Hubot Sans Bold" pitchFamily="34" charset="-120"/>
              </a:rPr>
              <a:t>SQL CONCEPTS DEMONSTRATED</a:t>
            </a:r>
            <a:endParaRPr lang="en-US" sz="1200" dirty="0"/>
          </a:p>
        </p:txBody>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00035" y="1738759"/>
            <a:ext cx="186031" cy="186035"/>
          </a:xfrm>
          <a:prstGeom prst="rect">
            <a:avLst/>
          </a:prstGeom>
        </p:spPr>
      </p:pic>
      <p:sp>
        <p:nvSpPr>
          <p:cNvPr id="15" name="Text 12"/>
          <p:cNvSpPr/>
          <p:nvPr/>
        </p:nvSpPr>
        <p:spPr>
          <a:xfrm>
            <a:off x="6656618" y="1735038"/>
            <a:ext cx="4879952" cy="193774"/>
          </a:xfrm>
          <a:prstGeom prst="rect">
            <a:avLst/>
          </a:prstGeom>
          <a:noFill/>
          <a:ln/>
        </p:spPr>
        <p:txBody>
          <a:bodyPr wrap="none" lIns="0" tIns="0" rIns="0" bIns="0" rtlCol="0" anchor="t"/>
          <a:lstStyle/>
          <a:p>
            <a:pPr algn="l" indent="0" marL="0">
              <a:lnSpc>
                <a:spcPct val="104000"/>
              </a:lnSpc>
              <a:buNone/>
            </a:pPr>
            <a:r>
              <a:rPr lang="en-US" sz="1200" b="1" dirty="0">
                <a:solidFill>
                  <a:srgbClr val="55575A"/>
                </a:solidFill>
                <a:latin typeface="Hubot Sans Bold" pitchFamily="34" charset="0"/>
                <a:ea typeface="Hubot Sans Bold" pitchFamily="34" charset="-122"/>
                <a:cs typeface="Hubot Sans Bold" pitchFamily="34" charset="-120"/>
              </a:rPr>
              <a:t>COUNT(DISTINCT)</a:t>
            </a:r>
            <a:endParaRPr lang="en-US" sz="1200" dirty="0"/>
          </a:p>
        </p:txBody>
      </p:sp>
      <p:sp>
        <p:nvSpPr>
          <p:cNvPr id="16" name="Text 13"/>
          <p:cNvSpPr/>
          <p:nvPr/>
        </p:nvSpPr>
        <p:spPr>
          <a:xfrm>
            <a:off x="6656618" y="2021780"/>
            <a:ext cx="4879952" cy="173633"/>
          </a:xfrm>
          <a:prstGeom prst="rect">
            <a:avLst/>
          </a:prstGeom>
          <a:noFill/>
          <a:ln/>
        </p:spPr>
        <p:txBody>
          <a:bodyPr wrap="none" lIns="0" tIns="0" rIns="0" bIns="0" rtlCol="0" anchor="t"/>
          <a:lstStyle/>
          <a:p>
            <a:pPr algn="l" indent="0" marL="0">
              <a:lnSpc>
                <a:spcPct val="117000"/>
              </a:lnSpc>
              <a:buNone/>
            </a:pPr>
            <a:r>
              <a:rPr lang="en-US" sz="950" dirty="0">
                <a:solidFill>
                  <a:srgbClr val="55575A"/>
                </a:solidFill>
                <a:latin typeface="Roboto Condensed" pitchFamily="34" charset="0"/>
                <a:ea typeface="Roboto Condensed" pitchFamily="34" charset="-122"/>
                <a:cs typeface="Roboto Condensed" pitchFamily="34" charset="-120"/>
              </a:rPr>
              <a:t>Counts unique order IDs without duplication</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0035" y="2385169"/>
            <a:ext cx="186031" cy="186035"/>
          </a:xfrm>
          <a:prstGeom prst="rect">
            <a:avLst/>
          </a:prstGeom>
        </p:spPr>
      </p:pic>
      <p:sp>
        <p:nvSpPr>
          <p:cNvPr id="18" name="Text 14"/>
          <p:cNvSpPr/>
          <p:nvPr/>
        </p:nvSpPr>
        <p:spPr>
          <a:xfrm>
            <a:off x="6656618" y="2381448"/>
            <a:ext cx="4879952" cy="193774"/>
          </a:xfrm>
          <a:prstGeom prst="rect">
            <a:avLst/>
          </a:prstGeom>
          <a:noFill/>
          <a:ln/>
        </p:spPr>
        <p:txBody>
          <a:bodyPr wrap="none" lIns="0" tIns="0" rIns="0" bIns="0" rtlCol="0" anchor="t"/>
          <a:lstStyle/>
          <a:p>
            <a:pPr algn="l" indent="0" marL="0">
              <a:lnSpc>
                <a:spcPct val="104000"/>
              </a:lnSpc>
              <a:buNone/>
            </a:pPr>
            <a:r>
              <a:rPr lang="en-US" sz="1200" b="1" dirty="0">
                <a:solidFill>
                  <a:srgbClr val="55575A"/>
                </a:solidFill>
                <a:latin typeface="Hubot Sans Bold" pitchFamily="34" charset="0"/>
                <a:ea typeface="Hubot Sans Bold" pitchFamily="34" charset="-122"/>
                <a:cs typeface="Hubot Sans Bold" pitchFamily="34" charset="-120"/>
              </a:rPr>
              <a:t>SUM() &amp; ROUND()</a:t>
            </a:r>
            <a:endParaRPr lang="en-US" sz="1200" dirty="0"/>
          </a:p>
        </p:txBody>
      </p:sp>
      <p:sp>
        <p:nvSpPr>
          <p:cNvPr id="19" name="Text 15"/>
          <p:cNvSpPr/>
          <p:nvPr/>
        </p:nvSpPr>
        <p:spPr>
          <a:xfrm>
            <a:off x="6656618" y="2668191"/>
            <a:ext cx="4879952" cy="173633"/>
          </a:xfrm>
          <a:prstGeom prst="rect">
            <a:avLst/>
          </a:prstGeom>
          <a:noFill/>
          <a:ln/>
        </p:spPr>
        <p:txBody>
          <a:bodyPr wrap="none" lIns="0" tIns="0" rIns="0" bIns="0" rtlCol="0" anchor="t"/>
          <a:lstStyle/>
          <a:p>
            <a:pPr algn="l" indent="0" marL="0">
              <a:lnSpc>
                <a:spcPct val="117000"/>
              </a:lnSpc>
              <a:buNone/>
            </a:pPr>
            <a:r>
              <a:rPr lang="en-US" sz="950" dirty="0">
                <a:solidFill>
                  <a:srgbClr val="55575A"/>
                </a:solidFill>
                <a:latin typeface="Roboto Condensed" pitchFamily="34" charset="0"/>
                <a:ea typeface="Roboto Condensed" pitchFamily="34" charset="-122"/>
                <a:cs typeface="Roboto Condensed" pitchFamily="34" charset="-120"/>
              </a:rPr>
              <a:t>Aggregates revenue and formats to 2 decimals</a:t>
            </a:r>
            <a:endParaRPr lang="en-US" sz="950" dirty="0"/>
          </a:p>
        </p:txBody>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00035" y="3031579"/>
            <a:ext cx="186031" cy="186035"/>
          </a:xfrm>
          <a:prstGeom prst="rect">
            <a:avLst/>
          </a:prstGeom>
        </p:spPr>
      </p:pic>
      <p:sp>
        <p:nvSpPr>
          <p:cNvPr id="21" name="Text 16"/>
          <p:cNvSpPr/>
          <p:nvPr/>
        </p:nvSpPr>
        <p:spPr>
          <a:xfrm>
            <a:off x="6656618" y="3027859"/>
            <a:ext cx="4879952" cy="193774"/>
          </a:xfrm>
          <a:prstGeom prst="rect">
            <a:avLst/>
          </a:prstGeom>
          <a:noFill/>
          <a:ln/>
        </p:spPr>
        <p:txBody>
          <a:bodyPr wrap="none" lIns="0" tIns="0" rIns="0" bIns="0" rtlCol="0" anchor="t"/>
          <a:lstStyle/>
          <a:p>
            <a:pPr algn="l" indent="0" marL="0">
              <a:lnSpc>
                <a:spcPct val="104000"/>
              </a:lnSpc>
              <a:buNone/>
            </a:pPr>
            <a:r>
              <a:rPr lang="en-US" sz="1200" b="1" dirty="0">
                <a:solidFill>
                  <a:srgbClr val="55575A"/>
                </a:solidFill>
                <a:latin typeface="Hubot Sans Bold" pitchFamily="34" charset="0"/>
                <a:ea typeface="Hubot Sans Bold" pitchFamily="34" charset="-122"/>
                <a:cs typeface="Hubot Sans Bold" pitchFamily="34" charset="-120"/>
              </a:rPr>
              <a:t>INNER JOIN</a:t>
            </a:r>
            <a:endParaRPr lang="en-US" sz="1200" dirty="0"/>
          </a:p>
        </p:txBody>
      </p:sp>
      <p:sp>
        <p:nvSpPr>
          <p:cNvPr id="22" name="Text 17"/>
          <p:cNvSpPr/>
          <p:nvPr/>
        </p:nvSpPr>
        <p:spPr>
          <a:xfrm>
            <a:off x="6656618" y="3314601"/>
            <a:ext cx="4879952" cy="173633"/>
          </a:xfrm>
          <a:prstGeom prst="rect">
            <a:avLst/>
          </a:prstGeom>
          <a:noFill/>
          <a:ln/>
        </p:spPr>
        <p:txBody>
          <a:bodyPr wrap="none" lIns="0" tIns="0" rIns="0" bIns="0" rtlCol="0" anchor="t"/>
          <a:lstStyle/>
          <a:p>
            <a:pPr algn="l" indent="0" marL="0">
              <a:lnSpc>
                <a:spcPct val="117000"/>
              </a:lnSpc>
              <a:buNone/>
            </a:pPr>
            <a:r>
              <a:rPr lang="en-US" sz="950" dirty="0">
                <a:solidFill>
                  <a:srgbClr val="55575A"/>
                </a:solidFill>
                <a:latin typeface="Roboto Condensed" pitchFamily="34" charset="0"/>
                <a:ea typeface="Roboto Condensed" pitchFamily="34" charset="-122"/>
                <a:cs typeface="Roboto Condensed" pitchFamily="34" charset="-120"/>
              </a:rPr>
              <a:t>Combines tables on matching foreign keys</a:t>
            </a:r>
            <a:endParaRPr lang="en-US" sz="950" dirty="0"/>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00035" y="3677989"/>
            <a:ext cx="186031" cy="186035"/>
          </a:xfrm>
          <a:prstGeom prst="rect">
            <a:avLst/>
          </a:prstGeom>
        </p:spPr>
      </p:pic>
      <p:sp>
        <p:nvSpPr>
          <p:cNvPr id="24" name="Text 18"/>
          <p:cNvSpPr/>
          <p:nvPr/>
        </p:nvSpPr>
        <p:spPr>
          <a:xfrm>
            <a:off x="6656618" y="3674269"/>
            <a:ext cx="4879952" cy="193774"/>
          </a:xfrm>
          <a:prstGeom prst="rect">
            <a:avLst/>
          </a:prstGeom>
          <a:noFill/>
          <a:ln/>
        </p:spPr>
        <p:txBody>
          <a:bodyPr wrap="none" lIns="0" tIns="0" rIns="0" bIns="0" rtlCol="0" anchor="t"/>
          <a:lstStyle/>
          <a:p>
            <a:pPr algn="l" indent="0" marL="0">
              <a:lnSpc>
                <a:spcPct val="104000"/>
              </a:lnSpc>
              <a:buNone/>
            </a:pPr>
            <a:r>
              <a:rPr lang="en-US" sz="1200" b="1" dirty="0">
                <a:solidFill>
                  <a:srgbClr val="55575A"/>
                </a:solidFill>
                <a:latin typeface="Hubot Sans Bold" pitchFamily="34" charset="0"/>
                <a:ea typeface="Hubot Sans Bold" pitchFamily="34" charset="-122"/>
                <a:cs typeface="Hubot Sans Bold" pitchFamily="34" charset="-120"/>
              </a:rPr>
              <a:t>ORDER BY DESC &amp; LIMIT</a:t>
            </a:r>
            <a:endParaRPr lang="en-US" sz="1200" dirty="0"/>
          </a:p>
        </p:txBody>
      </p:sp>
      <p:sp>
        <p:nvSpPr>
          <p:cNvPr id="25" name="Text 19"/>
          <p:cNvSpPr/>
          <p:nvPr/>
        </p:nvSpPr>
        <p:spPr>
          <a:xfrm>
            <a:off x="6656618" y="3961011"/>
            <a:ext cx="4879952" cy="173633"/>
          </a:xfrm>
          <a:prstGeom prst="rect">
            <a:avLst/>
          </a:prstGeom>
          <a:noFill/>
          <a:ln/>
        </p:spPr>
        <p:txBody>
          <a:bodyPr wrap="none" lIns="0" tIns="0" rIns="0" bIns="0" rtlCol="0" anchor="t"/>
          <a:lstStyle/>
          <a:p>
            <a:pPr algn="l" indent="0" marL="0">
              <a:lnSpc>
                <a:spcPct val="117000"/>
              </a:lnSpc>
              <a:buNone/>
            </a:pPr>
            <a:r>
              <a:rPr lang="en-US" sz="950" dirty="0">
                <a:solidFill>
                  <a:srgbClr val="55575A"/>
                </a:solidFill>
                <a:latin typeface="Roboto Condensed" pitchFamily="34" charset="0"/>
                <a:ea typeface="Roboto Condensed" pitchFamily="34" charset="-122"/>
                <a:cs typeface="Roboto Condensed" pitchFamily="34" charset="-120"/>
              </a:rPr>
              <a:t>Sorts descending and returns top result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81509"/>
            <a:ext cx="10868745" cy="266502"/>
          </a:xfrm>
          <a:prstGeom prst="rect">
            <a:avLst/>
          </a:prstGeom>
          <a:noFill/>
          <a:ln/>
        </p:spPr>
        <p:txBody>
          <a:bodyPr wrap="none" lIns="0" tIns="0" rIns="0" bIns="0" rtlCol="0" anchor="t"/>
          <a:lstStyle/>
          <a:p>
            <a:pPr algn="l" indent="0" marL="0">
              <a:lnSpc>
                <a:spcPct val="104000"/>
              </a:lnSpc>
              <a:buNone/>
            </a:pPr>
            <a:r>
              <a:rPr lang="en-US" sz="1650" b="1" dirty="0">
                <a:solidFill>
                  <a:srgbClr val="0C0D0F"/>
                </a:solidFill>
                <a:latin typeface="Hubot Sans Bold" pitchFamily="34" charset="0"/>
                <a:ea typeface="Hubot Sans Bold" pitchFamily="34" charset="-122"/>
                <a:cs typeface="Hubot Sans Bold" pitchFamily="34" charset="-120"/>
              </a:rPr>
              <a:t>PIZZA SIZE DEMAND &amp; TOP REVENUE-GENERATING PIZZAS</a:t>
            </a:r>
            <a:endParaRPr lang="en-US" sz="1650" dirty="0"/>
          </a:p>
        </p:txBody>
      </p:sp>
      <p:sp>
        <p:nvSpPr>
          <p:cNvPr id="3" name="Text 1"/>
          <p:cNvSpPr/>
          <p:nvPr/>
        </p:nvSpPr>
        <p:spPr>
          <a:xfrm>
            <a:off x="661475" y="857845"/>
            <a:ext cx="5330394" cy="133152"/>
          </a:xfrm>
          <a:prstGeom prst="rect">
            <a:avLst/>
          </a:prstGeom>
          <a:noFill/>
          <a:ln/>
        </p:spPr>
        <p:txBody>
          <a:bodyPr wrap="none" lIns="0" tIns="0" rIns="0" bIns="0" rtlCol="0" anchor="t"/>
          <a:lstStyle/>
          <a:p>
            <a:pPr algn="l" indent="0" marL="0">
              <a:lnSpc>
                <a:spcPct val="104000"/>
              </a:lnSpc>
              <a:buNone/>
            </a:pPr>
            <a:r>
              <a:rPr lang="en-US" sz="800" b="1" dirty="0">
                <a:solidFill>
                  <a:srgbClr val="0C0D0F"/>
                </a:solidFill>
                <a:latin typeface="Hubot Sans Bold" pitchFamily="34" charset="0"/>
                <a:ea typeface="Hubot Sans Bold" pitchFamily="34" charset="-122"/>
                <a:cs typeface="Hubot Sans Bold" pitchFamily="34" charset="-120"/>
              </a:rPr>
              <a:t>PIZZA SIZE DEMAND (ORDER-LINE FREQUENCY)</a:t>
            </a:r>
            <a:endParaRPr lang="en-US" sz="800" dirty="0"/>
          </a:p>
        </p:txBody>
      </p:sp>
      <p:pic>
        <p:nvPicPr>
          <p:cNvPr id="4" name="Image 0" descr="preencoded.png">    </p:cNvPr>
          <p:cNvPicPr>
            <a:picLocks noChangeAspect="1"/>
          </p:cNvPicPr>
          <p:nvPr/>
        </p:nvPicPr>
        <p:blipFill>
          <a:blip r:embed="rId1"/>
          <a:stretch>
            <a:fillRect/>
          </a:stretch>
        </p:blipFill>
        <p:spPr>
          <a:xfrm>
            <a:off x="661475" y="1040408"/>
            <a:ext cx="5330394" cy="3836888"/>
          </a:xfrm>
          <a:prstGeom prst="rect">
            <a:avLst/>
          </a:prstGeom>
        </p:spPr>
      </p:pic>
      <p:sp>
        <p:nvSpPr>
          <p:cNvPr id="5" name="Shape 2"/>
          <p:cNvSpPr/>
          <p:nvPr/>
        </p:nvSpPr>
        <p:spPr>
          <a:xfrm>
            <a:off x="661475" y="4926707"/>
            <a:ext cx="5330394" cy="224830"/>
          </a:xfrm>
          <a:prstGeom prst="roundRect">
            <a:avLst>
              <a:gd name="adj" fmla="val 5690"/>
            </a:avLst>
          </a:prstGeom>
          <a:solidFill>
            <a:srgbClr val="E7E7E4"/>
          </a:solidFill>
          <a:ln/>
        </p:spPr>
      </p:sp>
      <p:pic>
        <p:nvPicPr>
          <p:cNvPr id="6" name="Image 1" descr="preencoded.png">    </p:cNvPr>
          <p:cNvPicPr>
            <a:picLocks noChangeAspect="1"/>
          </p:cNvPicPr>
          <p:nvPr/>
        </p:nvPicPr>
        <p:blipFill>
          <a:blip r:embed="rId2"/>
          <a:stretch>
            <a:fillRect/>
          </a:stretch>
        </p:blipFill>
        <p:spPr>
          <a:xfrm>
            <a:off x="746702" y="4993481"/>
            <a:ext cx="106558" cy="85229"/>
          </a:xfrm>
          <a:prstGeom prst="rect">
            <a:avLst/>
          </a:prstGeom>
        </p:spPr>
      </p:pic>
      <p:sp>
        <p:nvSpPr>
          <p:cNvPr id="7" name="Text 3"/>
          <p:cNvSpPr/>
          <p:nvPr/>
        </p:nvSpPr>
        <p:spPr>
          <a:xfrm>
            <a:off x="938487" y="4987429"/>
            <a:ext cx="5577740" cy="103386"/>
          </a:xfrm>
          <a:prstGeom prst="rect">
            <a:avLst/>
          </a:prstGeom>
          <a:noFill/>
          <a:ln/>
        </p:spPr>
        <p:txBody>
          <a:bodyPr wrap="none" lIns="0" tIns="0" rIns="0" bIns="0" rtlCol="0" anchor="t"/>
          <a:lstStyle/>
          <a:p>
            <a:pPr algn="l" indent="0" marL="0">
              <a:lnSpc>
                <a:spcPct val="101000"/>
              </a:lnSpc>
              <a:buNone/>
            </a:pPr>
            <a:r>
              <a:rPr lang="en-US" sz="650" b="1" dirty="0">
                <a:solidFill>
                  <a:srgbClr val="000000"/>
                </a:solidFill>
                <a:latin typeface="Roboto Condensed Bold" pitchFamily="34" charset="0"/>
                <a:ea typeface="Roboto Condensed Bold" pitchFamily="34" charset="-122"/>
                <a:cs typeface="Roboto Condensed Bold" pitchFamily="34" charset="-120"/>
              </a:rPr>
              <a:t>Business Insight:</a:t>
            </a:r>
            <a:pPr algn="l" indent="0" marL="0">
              <a:lnSpc>
                <a:spcPct val="101000"/>
              </a:lnSpc>
              <a:buNone/>
            </a:pPr>
            <a:r>
              <a:rPr lang="en-US" sz="650" dirty="0">
                <a:solidFill>
                  <a:srgbClr val="000000"/>
                </a:solidFill>
                <a:latin typeface="Roboto Condensed" pitchFamily="34" charset="0"/>
                <a:ea typeface="Roboto Condensed" pitchFamily="34" charset="-122"/>
                <a:cs typeface="Roboto Condensed" pitchFamily="34" charset="-120"/>
              </a:rPr>
              <a:t> Large pizzas have the highest order-line frequency and should receive strong inventory and promotional focus.</a:t>
            </a:r>
            <a:endParaRPr lang="en-US" sz="650" dirty="0"/>
          </a:p>
        </p:txBody>
      </p:sp>
      <p:sp>
        <p:nvSpPr>
          <p:cNvPr id="8" name="Text 4"/>
          <p:cNvSpPr/>
          <p:nvPr/>
        </p:nvSpPr>
        <p:spPr>
          <a:xfrm>
            <a:off x="6206176" y="857845"/>
            <a:ext cx="5330394" cy="133152"/>
          </a:xfrm>
          <a:prstGeom prst="rect">
            <a:avLst/>
          </a:prstGeom>
          <a:noFill/>
          <a:ln/>
        </p:spPr>
        <p:txBody>
          <a:bodyPr wrap="none" lIns="0" tIns="0" rIns="0" bIns="0" rtlCol="0" anchor="t"/>
          <a:lstStyle/>
          <a:p>
            <a:pPr algn="l" indent="0" marL="0">
              <a:lnSpc>
                <a:spcPct val="104000"/>
              </a:lnSpc>
              <a:buNone/>
            </a:pPr>
            <a:r>
              <a:rPr lang="en-US" sz="800" b="1" dirty="0">
                <a:solidFill>
                  <a:srgbClr val="0C0D0F"/>
                </a:solidFill>
                <a:latin typeface="Hubot Sans Bold" pitchFamily="34" charset="0"/>
                <a:ea typeface="Hubot Sans Bold" pitchFamily="34" charset="-122"/>
                <a:cs typeface="Hubot Sans Bold" pitchFamily="34" charset="-120"/>
              </a:rPr>
              <a:t>TOP 5 PIZZA TYPES BY REVENUE</a:t>
            </a:r>
            <a:endParaRPr lang="en-US" sz="800" dirty="0"/>
          </a:p>
        </p:txBody>
      </p:sp>
      <p:pic>
        <p:nvPicPr>
          <p:cNvPr id="9" name="Image 2" descr="preencoded.png">    </p:cNvPr>
          <p:cNvPicPr>
            <a:picLocks noChangeAspect="1"/>
          </p:cNvPicPr>
          <p:nvPr/>
        </p:nvPicPr>
        <p:blipFill>
          <a:blip r:embed="rId3"/>
          <a:stretch>
            <a:fillRect/>
          </a:stretch>
        </p:blipFill>
        <p:spPr>
          <a:xfrm>
            <a:off x="6206176" y="1040408"/>
            <a:ext cx="5330394" cy="3836888"/>
          </a:xfrm>
          <a:prstGeom prst="rect">
            <a:avLst/>
          </a:prstGeom>
        </p:spPr>
      </p:pic>
      <p:sp>
        <p:nvSpPr>
          <p:cNvPr id="10" name="Shape 5"/>
          <p:cNvSpPr/>
          <p:nvPr/>
        </p:nvSpPr>
        <p:spPr>
          <a:xfrm>
            <a:off x="6206176" y="4926707"/>
            <a:ext cx="5330394" cy="224830"/>
          </a:xfrm>
          <a:prstGeom prst="roundRect">
            <a:avLst>
              <a:gd name="adj" fmla="val 5690"/>
            </a:avLst>
          </a:prstGeom>
          <a:solidFill>
            <a:srgbClr val="E7E7E4"/>
          </a:solidFill>
          <a:ln/>
        </p:spPr>
      </p:sp>
      <p:pic>
        <p:nvPicPr>
          <p:cNvPr id="11" name="Image 3" descr="preencoded.png">    </p:cNvPr>
          <p:cNvPicPr>
            <a:picLocks noChangeAspect="1"/>
          </p:cNvPicPr>
          <p:nvPr/>
        </p:nvPicPr>
        <p:blipFill>
          <a:blip r:embed="rId4"/>
          <a:stretch>
            <a:fillRect/>
          </a:stretch>
        </p:blipFill>
        <p:spPr>
          <a:xfrm>
            <a:off x="6291403" y="4993481"/>
            <a:ext cx="106558" cy="85229"/>
          </a:xfrm>
          <a:prstGeom prst="rect">
            <a:avLst/>
          </a:prstGeom>
        </p:spPr>
      </p:pic>
      <p:sp>
        <p:nvSpPr>
          <p:cNvPr id="12" name="Text 6"/>
          <p:cNvSpPr/>
          <p:nvPr/>
        </p:nvSpPr>
        <p:spPr>
          <a:xfrm>
            <a:off x="6483188" y="4987429"/>
            <a:ext cx="5577740" cy="103386"/>
          </a:xfrm>
          <a:prstGeom prst="rect">
            <a:avLst/>
          </a:prstGeom>
          <a:noFill/>
          <a:ln/>
        </p:spPr>
        <p:txBody>
          <a:bodyPr wrap="none" lIns="0" tIns="0" rIns="0" bIns="0" rtlCol="0" anchor="t"/>
          <a:lstStyle/>
          <a:p>
            <a:pPr algn="l" indent="0" marL="0">
              <a:lnSpc>
                <a:spcPct val="101000"/>
              </a:lnSpc>
              <a:buNone/>
            </a:pPr>
            <a:r>
              <a:rPr lang="en-US" sz="650" b="1" dirty="0">
                <a:solidFill>
                  <a:srgbClr val="000000"/>
                </a:solidFill>
                <a:latin typeface="Roboto Condensed Bold" pitchFamily="34" charset="0"/>
                <a:ea typeface="Roboto Condensed Bold" pitchFamily="34" charset="-122"/>
                <a:cs typeface="Roboto Condensed Bold" pitchFamily="34" charset="-120"/>
              </a:rPr>
              <a:t>Note:</a:t>
            </a:r>
            <a:pPr algn="l" indent="0" marL="0">
              <a:lnSpc>
                <a:spcPct val="101000"/>
              </a:lnSpc>
              <a:buNone/>
            </a:pPr>
            <a:r>
              <a:rPr lang="en-US" sz="650" dirty="0">
                <a:solidFill>
                  <a:srgbClr val="000000"/>
                </a:solidFill>
                <a:latin typeface="Roboto Condensed" pitchFamily="34" charset="0"/>
                <a:ea typeface="Roboto Condensed" pitchFamily="34" charset="-122"/>
                <a:cs typeface="Roboto Condensed" pitchFamily="34" charset="-120"/>
              </a:rPr>
              <a:t> The query ranks by revenue. To rank by quantity, use SUM(quantity) instead of COUNT(pizza_id).</a:t>
            </a:r>
            <a:endParaRPr lang="en-US" sz="650" dirty="0"/>
          </a:p>
        </p:txBody>
      </p:sp>
      <p:sp>
        <p:nvSpPr>
          <p:cNvPr id="13" name="Shape 7"/>
          <p:cNvSpPr/>
          <p:nvPr/>
        </p:nvSpPr>
        <p:spPr>
          <a:xfrm>
            <a:off x="661475" y="5250359"/>
            <a:ext cx="10868745" cy="1126133"/>
          </a:xfrm>
          <a:prstGeom prst="roundRect">
            <a:avLst>
              <a:gd name="adj" fmla="val 1136"/>
            </a:avLst>
          </a:prstGeom>
          <a:solidFill>
            <a:srgbClr val="DBDBD6"/>
          </a:solidFill>
          <a:ln/>
        </p:spPr>
      </p:sp>
      <p:sp>
        <p:nvSpPr>
          <p:cNvPr id="14" name="Text 8"/>
          <p:cNvSpPr/>
          <p:nvPr/>
        </p:nvSpPr>
        <p:spPr>
          <a:xfrm>
            <a:off x="763767" y="5335588"/>
            <a:ext cx="10664161" cy="955675"/>
          </a:xfrm>
          <a:prstGeom prst="rect">
            <a:avLst/>
          </a:prstGeom>
          <a:noFill/>
          <a:ln/>
        </p:spPr>
        <p:txBody>
          <a:bodyPr wrap="square" lIns="0" tIns="0" rIns="0" bIns="0" rtlCol="0" anchor="t">
            <a:normAutofit/>
          </a:bodyPr>
          <a:lstStyle/>
          <a:p>
            <a:pPr algn="l" indent="0" marL="0">
              <a:lnSpc>
                <a:spcPct val="133000"/>
              </a:lnSpc>
              <a:buNone/>
            </a:pPr>
            <a:r>
              <a:rPr lang="en-US" sz="650" dirty="0">
                <a:solidFill>
                  <a:srgbClr val="D73A49"/>
                </a:solidFill>
                <a:latin typeface="Consolas" pitchFamily="34" charset="0"/>
                <a:ea typeface="Consolas" pitchFamily="34" charset="-122"/>
                <a:cs typeface="Consolas" pitchFamily="34" charset="-120"/>
              </a:rPr>
              <a:t>SELECT pt.name, SUM(od.quantity) AS total_quantity</a:t>
            </a:r>
            <a:endParaRPr lang="en-US" sz="650" dirty="0"/>
          </a:p>
          <a:p>
            <a:pPr algn="l" indent="0" marL="0">
              <a:lnSpc>
                <a:spcPct val="133000"/>
              </a:lnSpc>
              <a:buNone/>
            </a:pPr>
            <a:r>
              <a:rPr lang="en-US" sz="650" dirty="0">
                <a:solidFill>
                  <a:srgbClr val="D73A49"/>
                </a:solidFill>
                <a:latin typeface="Consolas" pitchFamily="34" charset="0"/>
                <a:ea typeface="Consolas" pitchFamily="34" charset="-122"/>
                <a:cs typeface="Consolas" pitchFamily="34" charset="-120"/>
              </a:rPr>
              <a:t>FROM pizza_types pt</a:t>
            </a:r>
            <a:endParaRPr lang="en-US" sz="650" dirty="0"/>
          </a:p>
          <a:p>
            <a:pPr algn="l" indent="0" marL="0">
              <a:lnSpc>
                <a:spcPct val="133000"/>
              </a:lnSpc>
              <a:buNone/>
            </a:pPr>
            <a:r>
              <a:rPr lang="en-US" sz="650" dirty="0">
                <a:solidFill>
                  <a:srgbClr val="D73A49"/>
                </a:solidFill>
                <a:latin typeface="Consolas" pitchFamily="34" charset="0"/>
                <a:ea typeface="Consolas" pitchFamily="34" charset="-122"/>
                <a:cs typeface="Consolas" pitchFamily="34" charset="-120"/>
              </a:rPr>
              <a:t>JOIN pizzas p ON pt.pizza_type_id = p.pizza_type_id</a:t>
            </a:r>
            <a:endParaRPr lang="en-US" sz="650" dirty="0"/>
          </a:p>
          <a:p>
            <a:pPr algn="l" indent="0" marL="0">
              <a:lnSpc>
                <a:spcPct val="133000"/>
              </a:lnSpc>
              <a:buNone/>
            </a:pPr>
            <a:r>
              <a:rPr lang="en-US" sz="650" dirty="0">
                <a:solidFill>
                  <a:srgbClr val="D73A49"/>
                </a:solidFill>
                <a:latin typeface="Consolas" pitchFamily="34" charset="0"/>
                <a:ea typeface="Consolas" pitchFamily="34" charset="-122"/>
                <a:cs typeface="Consolas" pitchFamily="34" charset="-120"/>
              </a:rPr>
              <a:t>JOIN order_details od ON od.pizza_id = p.pizza_id</a:t>
            </a:r>
            <a:endParaRPr lang="en-US" sz="650" dirty="0"/>
          </a:p>
          <a:p>
            <a:pPr algn="l" indent="0" marL="0">
              <a:lnSpc>
                <a:spcPct val="133000"/>
              </a:lnSpc>
              <a:buNone/>
            </a:pPr>
            <a:r>
              <a:rPr lang="en-US" sz="650" dirty="0">
                <a:solidFill>
                  <a:srgbClr val="D73A49"/>
                </a:solidFill>
                <a:latin typeface="Consolas" pitchFamily="34" charset="0"/>
                <a:ea typeface="Consolas" pitchFamily="34" charset="-122"/>
                <a:cs typeface="Consolas" pitchFamily="34" charset="-120"/>
              </a:rPr>
              <a:t>GROUP BY pt.name</a:t>
            </a:r>
            <a:endParaRPr lang="en-US" sz="650" dirty="0"/>
          </a:p>
          <a:p>
            <a:pPr algn="l" indent="0" marL="0">
              <a:lnSpc>
                <a:spcPct val="133000"/>
              </a:lnSpc>
              <a:buNone/>
            </a:pPr>
            <a:r>
              <a:rPr lang="en-US" sz="650" dirty="0">
                <a:solidFill>
                  <a:srgbClr val="D73A49"/>
                </a:solidFill>
                <a:latin typeface="Consolas" pitchFamily="34" charset="0"/>
                <a:ea typeface="Consolas" pitchFamily="34" charset="-122"/>
                <a:cs typeface="Consolas" pitchFamily="34" charset="-120"/>
              </a:rPr>
              <a:t>ORDER BY total_quantity DESC</a:t>
            </a:r>
            <a:endParaRPr lang="en-US" sz="650" dirty="0"/>
          </a:p>
          <a:p>
            <a:pPr algn="l" indent="0" marL="0">
              <a:lnSpc>
                <a:spcPct val="133000"/>
              </a:lnSpc>
              <a:buNone/>
            </a:pPr>
            <a:r>
              <a:rPr lang="en-US" sz="650" dirty="0">
                <a:solidFill>
                  <a:srgbClr val="D73A49"/>
                </a:solidFill>
                <a:latin typeface="Consolas" pitchFamily="34" charset="0"/>
                <a:ea typeface="Consolas" pitchFamily="34" charset="-122"/>
                <a:cs typeface="Consolas" pitchFamily="34" charset="-120"/>
              </a:rPr>
              <a:t>LIMIT 5;</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457696"/>
            <a:ext cx="10868745" cy="331093"/>
          </a:xfrm>
          <a:prstGeom prst="rect">
            <a:avLst/>
          </a:prstGeom>
          <a:noFill/>
          <a:ln/>
        </p:spPr>
        <p:txBody>
          <a:bodyPr wrap="none" lIns="0" tIns="0" rIns="0" bIns="0" rtlCol="0" anchor="t"/>
          <a:lstStyle/>
          <a:p>
            <a:pPr algn="l" indent="0" marL="0">
              <a:lnSpc>
                <a:spcPct val="104000"/>
              </a:lnSpc>
              <a:buNone/>
            </a:pPr>
            <a:r>
              <a:rPr lang="en-US" sz="2050" b="1" dirty="0">
                <a:solidFill>
                  <a:srgbClr val="0C0D0F"/>
                </a:solidFill>
                <a:latin typeface="Hubot Sans Bold" pitchFamily="34" charset="0"/>
                <a:ea typeface="Hubot Sans Bold" pitchFamily="34" charset="-122"/>
                <a:cs typeface="Hubot Sans Bold" pitchFamily="34" charset="-120"/>
              </a:rPr>
              <a:t>INTERMEDIATE ANALYSIS — CATEGORIES, HOURS &amp; DAILY VOLUME</a:t>
            </a:r>
            <a:endParaRPr lang="en-US" sz="2050" dirty="0"/>
          </a:p>
        </p:txBody>
      </p:sp>
      <p:sp>
        <p:nvSpPr>
          <p:cNvPr id="3" name="Text 1"/>
          <p:cNvSpPr/>
          <p:nvPr/>
        </p:nvSpPr>
        <p:spPr>
          <a:xfrm>
            <a:off x="661475" y="958453"/>
            <a:ext cx="5305193" cy="165497"/>
          </a:xfrm>
          <a:prstGeom prst="rect">
            <a:avLst/>
          </a:prstGeom>
          <a:noFill/>
          <a:ln/>
        </p:spPr>
        <p:txBody>
          <a:bodyPr wrap="none" lIns="0" tIns="0" rIns="0" bIns="0" rtlCol="0" anchor="t"/>
          <a:lstStyle/>
          <a:p>
            <a:pPr algn="l" indent="0" marL="0">
              <a:lnSpc>
                <a:spcPct val="104000"/>
              </a:lnSpc>
              <a:buNone/>
            </a:pPr>
            <a:r>
              <a:rPr lang="en-US" sz="1000" b="1" dirty="0">
                <a:solidFill>
                  <a:srgbClr val="0C0D0F"/>
                </a:solidFill>
                <a:latin typeface="Hubot Sans Bold" pitchFamily="34" charset="0"/>
                <a:ea typeface="Hubot Sans Bold" pitchFamily="34" charset="-122"/>
                <a:cs typeface="Hubot Sans Bold" pitchFamily="34" charset="-120"/>
              </a:rPr>
              <a:t>QUANTITY ORDERED BY CATEGORY</a:t>
            </a:r>
            <a:endParaRPr lang="en-US" sz="1000" dirty="0"/>
          </a:p>
        </p:txBody>
      </p:sp>
      <p:pic>
        <p:nvPicPr>
          <p:cNvPr id="4" name="Image 0" descr="preencoded.png">    </p:cNvPr>
          <p:cNvPicPr>
            <a:picLocks noChangeAspect="1"/>
          </p:cNvPicPr>
          <p:nvPr/>
        </p:nvPicPr>
        <p:blipFill>
          <a:blip r:embed="rId1"/>
          <a:stretch>
            <a:fillRect/>
          </a:stretch>
        </p:blipFill>
        <p:spPr>
          <a:xfrm>
            <a:off x="661475" y="1200249"/>
            <a:ext cx="5305193" cy="3818731"/>
          </a:xfrm>
          <a:prstGeom prst="rect">
            <a:avLst/>
          </a:prstGeom>
        </p:spPr>
      </p:pic>
      <p:sp>
        <p:nvSpPr>
          <p:cNvPr id="5" name="Text 2"/>
          <p:cNvSpPr/>
          <p:nvPr/>
        </p:nvSpPr>
        <p:spPr>
          <a:xfrm>
            <a:off x="661475" y="5095280"/>
            <a:ext cx="5305193" cy="278011"/>
          </a:xfrm>
          <a:prstGeom prst="rect">
            <a:avLst/>
          </a:prstGeom>
          <a:noFill/>
          <a:ln/>
        </p:spPr>
        <p:txBody>
          <a:bodyPr wrap="square" lIns="0" tIns="0" rIns="0" bIns="0" rtlCol="0" anchor="t">
            <a:normAutofit/>
          </a:bodyPr>
          <a:lstStyle/>
          <a:p>
            <a:pPr algn="l" indent="0" marL="0">
              <a:lnSpc>
                <a:spcPct val="109000"/>
              </a:lnSpc>
              <a:buNone/>
            </a:pPr>
            <a:r>
              <a:rPr lang="en-US" sz="800" dirty="0">
                <a:solidFill>
                  <a:srgbClr val="55575A"/>
                </a:solidFill>
                <a:latin typeface="Roboto Condensed" pitchFamily="34" charset="0"/>
                <a:ea typeface="Roboto Condensed" pitchFamily="34" charset="-122"/>
                <a:cs typeface="Roboto Condensed" pitchFamily="34" charset="-120"/>
              </a:rPr>
              <a:t>Classic pizzas lead in quantity demand. Chicken has the lowest volume — a potential growth opportunity through targeted campaigns.</a:t>
            </a:r>
            <a:endParaRPr lang="en-US" sz="800" dirty="0"/>
          </a:p>
        </p:txBody>
      </p:sp>
      <p:sp>
        <p:nvSpPr>
          <p:cNvPr id="6" name="Text 3"/>
          <p:cNvSpPr/>
          <p:nvPr/>
        </p:nvSpPr>
        <p:spPr>
          <a:xfrm>
            <a:off x="6231377" y="958453"/>
            <a:ext cx="5305193" cy="165497"/>
          </a:xfrm>
          <a:prstGeom prst="rect">
            <a:avLst/>
          </a:prstGeom>
          <a:noFill/>
          <a:ln/>
        </p:spPr>
        <p:txBody>
          <a:bodyPr wrap="none" lIns="0" tIns="0" rIns="0" bIns="0" rtlCol="0" anchor="t"/>
          <a:lstStyle/>
          <a:p>
            <a:pPr algn="l" indent="0" marL="0">
              <a:lnSpc>
                <a:spcPct val="104000"/>
              </a:lnSpc>
              <a:buNone/>
            </a:pPr>
            <a:r>
              <a:rPr lang="en-US" sz="1000" b="1" dirty="0">
                <a:solidFill>
                  <a:srgbClr val="0C0D0F"/>
                </a:solidFill>
                <a:latin typeface="Hubot Sans Bold" pitchFamily="34" charset="0"/>
                <a:ea typeface="Hubot Sans Bold" pitchFamily="34" charset="-122"/>
                <a:cs typeface="Hubot Sans Bold" pitchFamily="34" charset="-120"/>
              </a:rPr>
              <a:t>ORDERS BY HOUR OF DAY</a:t>
            </a:r>
            <a:endParaRPr lang="en-US" sz="1000" dirty="0"/>
          </a:p>
        </p:txBody>
      </p:sp>
      <p:pic>
        <p:nvPicPr>
          <p:cNvPr id="7" name="Image 1" descr="preencoded.png">    </p:cNvPr>
          <p:cNvPicPr>
            <a:picLocks noChangeAspect="1"/>
          </p:cNvPicPr>
          <p:nvPr/>
        </p:nvPicPr>
        <p:blipFill>
          <a:blip r:embed="rId2"/>
          <a:stretch>
            <a:fillRect/>
          </a:stretch>
        </p:blipFill>
        <p:spPr>
          <a:xfrm>
            <a:off x="6231377" y="1200249"/>
            <a:ext cx="5305193" cy="3818731"/>
          </a:xfrm>
          <a:prstGeom prst="rect">
            <a:avLst/>
          </a:prstGeom>
        </p:spPr>
      </p:pic>
      <p:sp>
        <p:nvSpPr>
          <p:cNvPr id="8" name="Text 4"/>
          <p:cNvSpPr/>
          <p:nvPr/>
        </p:nvSpPr>
        <p:spPr>
          <a:xfrm>
            <a:off x="6231377" y="5095280"/>
            <a:ext cx="5914778" cy="139005"/>
          </a:xfrm>
          <a:prstGeom prst="rect">
            <a:avLst/>
          </a:prstGeom>
          <a:noFill/>
          <a:ln/>
        </p:spPr>
        <p:txBody>
          <a:bodyPr wrap="none" lIns="0" tIns="0" rIns="0" bIns="0" rtlCol="0" anchor="t"/>
          <a:lstStyle/>
          <a:p>
            <a:pPr algn="l" indent="0" marL="0">
              <a:lnSpc>
                <a:spcPct val="109000"/>
              </a:lnSpc>
              <a:buNone/>
            </a:pPr>
            <a:r>
              <a:rPr lang="en-US" sz="800" dirty="0">
                <a:solidFill>
                  <a:srgbClr val="55575A"/>
                </a:solidFill>
                <a:latin typeface="Roboto Condensed" pitchFamily="34" charset="0"/>
                <a:ea typeface="Roboto Condensed" pitchFamily="34" charset="-122"/>
                <a:cs typeface="Roboto Condensed" pitchFamily="34" charset="-120"/>
              </a:rPr>
              <a:t>Peaks occur at lunch (12–1 PM) and dinner (5–8 PM). Staff scheduling and ingredient prep should align to these windows.</a:t>
            </a:r>
            <a:endParaRPr lang="en-US" sz="800" dirty="0"/>
          </a:p>
        </p:txBody>
      </p:sp>
      <p:sp>
        <p:nvSpPr>
          <p:cNvPr id="9" name="Shape 5"/>
          <p:cNvSpPr/>
          <p:nvPr/>
        </p:nvSpPr>
        <p:spPr>
          <a:xfrm>
            <a:off x="661475" y="5510609"/>
            <a:ext cx="10868745" cy="889595"/>
          </a:xfrm>
          <a:prstGeom prst="roundRect">
            <a:avLst>
              <a:gd name="adj" fmla="val 1787"/>
            </a:avLst>
          </a:prstGeom>
          <a:solidFill>
            <a:srgbClr val="DBDBD6"/>
          </a:solidFill>
          <a:ln/>
        </p:spPr>
      </p:sp>
      <p:sp>
        <p:nvSpPr>
          <p:cNvPr id="10" name="Text 6"/>
          <p:cNvSpPr/>
          <p:nvPr/>
        </p:nvSpPr>
        <p:spPr>
          <a:xfrm>
            <a:off x="788571" y="5616476"/>
            <a:ext cx="10614553" cy="677863"/>
          </a:xfrm>
          <a:prstGeom prst="rect">
            <a:avLst/>
          </a:prstGeom>
          <a:noFill/>
          <a:ln/>
        </p:spPr>
        <p:txBody>
          <a:bodyPr wrap="square" lIns="0" tIns="0" rIns="0" bIns="0" rtlCol="0" anchor="t">
            <a:normAutofit/>
          </a:bodyPr>
          <a:lstStyle/>
          <a:p>
            <a:pPr algn="l" indent="0" marL="0">
              <a:lnSpc>
                <a:spcPct val="133000"/>
              </a:lnSpc>
              <a:buNone/>
            </a:pPr>
            <a:r>
              <a:rPr lang="en-US" sz="800" dirty="0">
                <a:solidFill>
                  <a:srgbClr val="D73A49"/>
                </a:solidFill>
                <a:latin typeface="Consolas" pitchFamily="34" charset="0"/>
                <a:ea typeface="Consolas" pitchFamily="34" charset="-122"/>
                <a:cs typeface="Consolas" pitchFamily="34" charset="-120"/>
              </a:rPr>
              <a:t>SELECT HOUR(o.time) AS order_hour, COUNT(o.order_id) AS total_orders</a:t>
            </a:r>
            <a:endParaRPr lang="en-US" sz="800" dirty="0"/>
          </a:p>
          <a:p>
            <a:pPr algn="l" indent="0" marL="0">
              <a:lnSpc>
                <a:spcPct val="133000"/>
              </a:lnSpc>
              <a:buNone/>
            </a:pPr>
            <a:r>
              <a:rPr lang="en-US" sz="800" dirty="0">
                <a:solidFill>
                  <a:srgbClr val="D73A49"/>
                </a:solidFill>
                <a:latin typeface="Consolas" pitchFamily="34" charset="0"/>
                <a:ea typeface="Consolas" pitchFamily="34" charset="-122"/>
                <a:cs typeface="Consolas" pitchFamily="34" charset="-120"/>
              </a:rPr>
              <a:t>FROM orders o</a:t>
            </a:r>
            <a:endParaRPr lang="en-US" sz="800" dirty="0"/>
          </a:p>
          <a:p>
            <a:pPr algn="l" indent="0" marL="0">
              <a:lnSpc>
                <a:spcPct val="133000"/>
              </a:lnSpc>
              <a:buNone/>
            </a:pPr>
            <a:r>
              <a:rPr lang="en-US" sz="800" dirty="0">
                <a:solidFill>
                  <a:srgbClr val="D73A49"/>
                </a:solidFill>
                <a:latin typeface="Consolas" pitchFamily="34" charset="0"/>
                <a:ea typeface="Consolas" pitchFamily="34" charset="-122"/>
                <a:cs typeface="Consolas" pitchFamily="34" charset="-120"/>
              </a:rPr>
              <a:t>GROUP BY HOUR(o.time)</a:t>
            </a:r>
            <a:endParaRPr lang="en-US" sz="800" dirty="0"/>
          </a:p>
          <a:p>
            <a:pPr algn="l" indent="0" marL="0">
              <a:lnSpc>
                <a:spcPct val="133000"/>
              </a:lnSpc>
              <a:buNone/>
            </a:pPr>
            <a:r>
              <a:rPr lang="en-US" sz="800" dirty="0">
                <a:solidFill>
                  <a:srgbClr val="D73A49"/>
                </a:solidFill>
                <a:latin typeface="Consolas" pitchFamily="34" charset="0"/>
                <a:ea typeface="Consolas" pitchFamily="34" charset="-122"/>
                <a:cs typeface="Consolas" pitchFamily="34" charset="-120"/>
              </a:rPr>
              <a:t>ORDER BY total_orders DESC;</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54819"/>
            <a:ext cx="10868745"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0C0D0F"/>
                </a:solidFill>
                <a:latin typeface="Hubot Sans Bold" pitchFamily="34" charset="0"/>
                <a:ea typeface="Hubot Sans Bold" pitchFamily="34" charset="-122"/>
                <a:cs typeface="Hubot Sans Bold" pitchFamily="34" charset="-120"/>
              </a:rPr>
              <a:t>ADVANCED ANALYSIS — REVENUE CONTRIBUTION, CUMULATIVE GROWTH &amp; CATEGORY RANKINGS</a:t>
            </a:r>
            <a:endParaRPr lang="en-US" sz="1600" dirty="0"/>
          </a:p>
        </p:txBody>
      </p:sp>
      <p:sp>
        <p:nvSpPr>
          <p:cNvPr id="3" name="Text 1"/>
          <p:cNvSpPr/>
          <p:nvPr/>
        </p:nvSpPr>
        <p:spPr>
          <a:xfrm>
            <a:off x="661475" y="1075035"/>
            <a:ext cx="5333569" cy="129183"/>
          </a:xfrm>
          <a:prstGeom prst="rect">
            <a:avLst/>
          </a:prstGeom>
          <a:noFill/>
          <a:ln/>
        </p:spPr>
        <p:txBody>
          <a:bodyPr wrap="none" lIns="0" tIns="0" rIns="0" bIns="0" rtlCol="0" anchor="t"/>
          <a:lstStyle/>
          <a:p>
            <a:pPr algn="l" indent="0" marL="0">
              <a:lnSpc>
                <a:spcPct val="104000"/>
              </a:lnSpc>
              <a:buNone/>
            </a:pPr>
            <a:r>
              <a:rPr lang="en-US" sz="800" b="1" dirty="0">
                <a:solidFill>
                  <a:srgbClr val="0C0D0F"/>
                </a:solidFill>
                <a:latin typeface="Hubot Sans Bold" pitchFamily="34" charset="0"/>
                <a:ea typeface="Hubot Sans Bold" pitchFamily="34" charset="-122"/>
                <a:cs typeface="Hubot Sans Bold" pitchFamily="34" charset="-120"/>
              </a:rPr>
              <a:t>CATEGORY REVENUE CONTRIBUTION (%)</a:t>
            </a:r>
            <a:endParaRPr lang="en-US" sz="800" dirty="0"/>
          </a:p>
        </p:txBody>
      </p:sp>
      <p:pic>
        <p:nvPicPr>
          <p:cNvPr id="4" name="Image 0" descr="preencoded.png">    </p:cNvPr>
          <p:cNvPicPr>
            <a:picLocks noChangeAspect="1"/>
          </p:cNvPicPr>
          <p:nvPr/>
        </p:nvPicPr>
        <p:blipFill>
          <a:blip r:embed="rId1"/>
          <a:stretch>
            <a:fillRect/>
          </a:stretch>
        </p:blipFill>
        <p:spPr>
          <a:xfrm>
            <a:off x="661475" y="1250652"/>
            <a:ext cx="5333569" cy="3839170"/>
          </a:xfrm>
          <a:prstGeom prst="rect">
            <a:avLst/>
          </a:prstGeom>
        </p:spPr>
      </p:pic>
      <p:sp>
        <p:nvSpPr>
          <p:cNvPr id="5" name="Text 2"/>
          <p:cNvSpPr/>
          <p:nvPr/>
        </p:nvSpPr>
        <p:spPr>
          <a:xfrm>
            <a:off x="661475" y="5136257"/>
            <a:ext cx="5943154" cy="99120"/>
          </a:xfrm>
          <a:prstGeom prst="rect">
            <a:avLst/>
          </a:prstGeom>
          <a:noFill/>
          <a:ln/>
        </p:spPr>
        <p:txBody>
          <a:bodyPr wrap="none" lIns="0" tIns="0" rIns="0" bIns="0" rtlCol="0" anchor="t"/>
          <a:lstStyle/>
          <a:p>
            <a:pPr algn="l" indent="0" marL="0">
              <a:lnSpc>
                <a:spcPct val="100000"/>
              </a:lnSpc>
              <a:buNone/>
            </a:pPr>
            <a:r>
              <a:rPr lang="en-US" sz="650" dirty="0">
                <a:solidFill>
                  <a:srgbClr val="55575A"/>
                </a:solidFill>
                <a:latin typeface="Roboto Condensed" pitchFamily="34" charset="0"/>
                <a:ea typeface="Roboto Condensed" pitchFamily="34" charset="-122"/>
                <a:cs typeface="Roboto Condensed" pitchFamily="34" charset="-120"/>
              </a:rPr>
              <a:t>Classic leads at 26.91%. All four categories are relatively balanced — each contributes roughly a quarter of total revenue.</a:t>
            </a:r>
            <a:endParaRPr lang="en-US" sz="650" dirty="0"/>
          </a:p>
        </p:txBody>
      </p:sp>
      <p:sp>
        <p:nvSpPr>
          <p:cNvPr id="6" name="Text 3"/>
          <p:cNvSpPr/>
          <p:nvPr/>
        </p:nvSpPr>
        <p:spPr>
          <a:xfrm>
            <a:off x="6203001" y="1075035"/>
            <a:ext cx="5333569" cy="129183"/>
          </a:xfrm>
          <a:prstGeom prst="rect">
            <a:avLst/>
          </a:prstGeom>
          <a:noFill/>
          <a:ln/>
        </p:spPr>
        <p:txBody>
          <a:bodyPr wrap="none" lIns="0" tIns="0" rIns="0" bIns="0" rtlCol="0" anchor="t"/>
          <a:lstStyle/>
          <a:p>
            <a:pPr algn="l" indent="0" marL="0">
              <a:lnSpc>
                <a:spcPct val="104000"/>
              </a:lnSpc>
              <a:buNone/>
            </a:pPr>
            <a:r>
              <a:rPr lang="en-US" sz="800" b="1" dirty="0">
                <a:solidFill>
                  <a:srgbClr val="0C0D0F"/>
                </a:solidFill>
                <a:latin typeface="Hubot Sans Bold" pitchFamily="34" charset="0"/>
                <a:ea typeface="Hubot Sans Bold" pitchFamily="34" charset="-122"/>
                <a:cs typeface="Hubot Sans Bold" pitchFamily="34" charset="-120"/>
              </a:rPr>
              <a:t>CUMULATIVE REVENUE GROWTH (FIRST 5 DAYS)</a:t>
            </a:r>
            <a:endParaRPr lang="en-US" sz="800" dirty="0"/>
          </a:p>
        </p:txBody>
      </p:sp>
      <p:pic>
        <p:nvPicPr>
          <p:cNvPr id="7" name="Image 1" descr="preencoded.png">    </p:cNvPr>
          <p:cNvPicPr>
            <a:picLocks noChangeAspect="1"/>
          </p:cNvPicPr>
          <p:nvPr/>
        </p:nvPicPr>
        <p:blipFill>
          <a:blip r:embed="rId2"/>
          <a:stretch>
            <a:fillRect/>
          </a:stretch>
        </p:blipFill>
        <p:spPr>
          <a:xfrm>
            <a:off x="6203001" y="1250652"/>
            <a:ext cx="5333569" cy="3839170"/>
          </a:xfrm>
          <a:prstGeom prst="rect">
            <a:avLst/>
          </a:prstGeom>
        </p:spPr>
      </p:pic>
      <p:sp>
        <p:nvSpPr>
          <p:cNvPr id="8" name="Text 4"/>
          <p:cNvSpPr/>
          <p:nvPr/>
        </p:nvSpPr>
        <p:spPr>
          <a:xfrm>
            <a:off x="6203001" y="5136257"/>
            <a:ext cx="5943154" cy="99120"/>
          </a:xfrm>
          <a:prstGeom prst="rect">
            <a:avLst/>
          </a:prstGeom>
          <a:noFill/>
          <a:ln/>
        </p:spPr>
        <p:txBody>
          <a:bodyPr wrap="none" lIns="0" tIns="0" rIns="0" bIns="0" rtlCol="0" anchor="t"/>
          <a:lstStyle/>
          <a:p>
            <a:pPr algn="l" indent="0" marL="0">
              <a:lnSpc>
                <a:spcPct val="100000"/>
              </a:lnSpc>
              <a:buNone/>
            </a:pPr>
            <a:r>
              <a:rPr lang="en-US" sz="650" dirty="0">
                <a:solidFill>
                  <a:srgbClr val="55575A"/>
                </a:solidFill>
                <a:latin typeface="Roboto Condensed" pitchFamily="34" charset="0"/>
                <a:ea typeface="Roboto Condensed" pitchFamily="34" charset="-122"/>
                <a:cs typeface="Roboto Condensed" pitchFamily="34" charset="-120"/>
              </a:rPr>
              <a:t>A running total built with </a:t>
            </a:r>
            <a:pPr algn="l" indent="0" marL="0">
              <a:lnSpc>
                <a:spcPct val="100000"/>
              </a:lnSpc>
              <a:buNone/>
            </a:pPr>
            <a:r>
              <a:rPr lang="en-US" sz="650" dirty="0">
                <a:solidFill>
                  <a:srgbClr val="55575A"/>
                </a:solidFill>
                <a:highlight>
                  <a:srgbClr val="DBDBD6"/>
                </a:highlight>
                <a:latin typeface="Consolas" pitchFamily="34" charset="0"/>
                <a:ea typeface="Consolas" pitchFamily="34" charset="-122"/>
                <a:cs typeface="Consolas" pitchFamily="34" charset="-120"/>
              </a:rPr>
              <a:t>SUM() OVER()</a:t>
            </a:r>
            <a:pPr algn="l" indent="0" marL="0">
              <a:lnSpc>
                <a:spcPct val="100000"/>
              </a:lnSpc>
              <a:buNone/>
            </a:pPr>
            <a:r>
              <a:rPr lang="en-US" sz="650" dirty="0">
                <a:solidFill>
                  <a:srgbClr val="55575A"/>
                </a:solidFill>
                <a:latin typeface="Roboto Condensed" pitchFamily="34" charset="0"/>
                <a:ea typeface="Roboto Condensed" pitchFamily="34" charset="-122"/>
                <a:cs typeface="Roboto Condensed" pitchFamily="34" charset="-120"/>
              </a:rPr>
              <a:t> helps management track performance against monthly targets and spot growth trends.</a:t>
            </a:r>
            <a:endParaRPr lang="en-US" sz="650" dirty="0"/>
          </a:p>
        </p:txBody>
      </p:sp>
      <p:sp>
        <p:nvSpPr>
          <p:cNvPr id="9" name="Text 5"/>
          <p:cNvSpPr/>
          <p:nvPr/>
        </p:nvSpPr>
        <p:spPr>
          <a:xfrm>
            <a:off x="661475" y="5334595"/>
            <a:ext cx="10868745" cy="129183"/>
          </a:xfrm>
          <a:prstGeom prst="rect">
            <a:avLst/>
          </a:prstGeom>
          <a:noFill/>
          <a:ln/>
        </p:spPr>
        <p:txBody>
          <a:bodyPr wrap="none" lIns="0" tIns="0" rIns="0" bIns="0" rtlCol="0" anchor="t"/>
          <a:lstStyle/>
          <a:p>
            <a:pPr algn="l" indent="0" marL="0">
              <a:lnSpc>
                <a:spcPct val="104000"/>
              </a:lnSpc>
              <a:buNone/>
            </a:pPr>
            <a:r>
              <a:rPr lang="en-US" sz="800" b="1" dirty="0">
                <a:solidFill>
                  <a:srgbClr val="0C0D0F"/>
                </a:solidFill>
                <a:latin typeface="Hubot Sans Bold" pitchFamily="34" charset="0"/>
                <a:ea typeface="Hubot Sans Bold" pitchFamily="34" charset="-122"/>
                <a:cs typeface="Hubot Sans Bold" pitchFamily="34" charset="-120"/>
              </a:rPr>
              <a:t>TOP 3 PIZZAS BY CATEGORY — RANK() OVER(PARTITION BY)</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1475" y="5525790"/>
          <a:ext cx="9143771" cy="914400"/>
        </p:xfrm>
        <a:graphic>
          <a:graphicData uri="http://schemas.openxmlformats.org/drawingml/2006/table">
            <a:tbl>
              <a:tblPr/>
              <a:tblGrid>
                <a:gridCol w="2717186"/>
                <a:gridCol w="2717186"/>
                <a:gridCol w="2717186"/>
                <a:gridCol w="2717186"/>
              </a:tblGrid>
              <a:tr h="164600">
                <a:tc>
                  <a:txBody>
                    <a:bodyPr/>
                    <a:lstStyle/>
                    <a:p>
                      <a:pPr indent="0" marL="0">
                        <a:buNone/>
                      </a:pPr>
                      <a:r>
                        <a:rPr lang="en-US" sz="800" b="1" dirty="0">
                          <a:solidFill>
                            <a:srgbClr val="55575A"/>
                          </a:solidFill>
                          <a:latin typeface="Roboto Condensed" pitchFamily="34" charset="0"/>
                          <a:ea typeface="Roboto Condensed" pitchFamily="34" charset="-122"/>
                          <a:cs typeface="Roboto Condensed" pitchFamily="34" charset="-120"/>
                        </a:rPr>
                        <a:t>Category</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b="1" dirty="0">
                          <a:solidFill>
                            <a:srgbClr val="55575A"/>
                          </a:solidFill>
                          <a:latin typeface="Roboto Condensed" pitchFamily="34" charset="0"/>
                          <a:ea typeface="Roboto Condensed" pitchFamily="34" charset="-122"/>
                          <a:cs typeface="Roboto Condensed" pitchFamily="34" charset="-120"/>
                        </a:rPr>
                        <a:t>Pizza Type</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b="1" dirty="0">
                          <a:solidFill>
                            <a:srgbClr val="55575A"/>
                          </a:solidFill>
                          <a:latin typeface="Roboto Condensed" pitchFamily="34" charset="0"/>
                          <a:ea typeface="Roboto Condensed" pitchFamily="34" charset="-122"/>
                          <a:cs typeface="Roboto Condensed" pitchFamily="34" charset="-120"/>
                        </a:rPr>
                        <a:t>Revenue</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b="1" dirty="0">
                          <a:solidFill>
                            <a:srgbClr val="55575A"/>
                          </a:solidFill>
                          <a:latin typeface="Roboto Condensed" pitchFamily="34" charset="0"/>
                          <a:ea typeface="Roboto Condensed" pitchFamily="34" charset="-122"/>
                          <a:cs typeface="Roboto Condensed" pitchFamily="34" charset="-120"/>
                        </a:rPr>
                        <a:t>Rank</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r>
              <a:tr h="167775">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Chicken</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Thai Chicken Pizza</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$43,434.25</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1</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r>
              <a:tr h="167775">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Chicken</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Barbecue Chicken Pizza</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$42,768.00</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2</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r>
              <a:tr h="167775">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Chicken</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California Chicken Pizza</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$41,409.50</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3</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r>
              <a:tr h="167775">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Classic</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Classic Deluxe Pizza</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$38,180.50</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1</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r>
              <a:tr h="167775">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Classic</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Hawaiian Pizza</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$32,273.25</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2</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r>
              <a:tr h="167775">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Classic</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Pepperoni Pizza</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$30,161.75</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3</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r>
              <a:tr h="167775">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Supreme</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Spicy Italian Pizza</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$34,831.25</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1</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r>
              <a:tr h="164600">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Supreme</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Italian Supreme Pizza</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$33,476.75</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c>
                  <a:txBody>
                    <a:bodyPr/>
                    <a:lstStyle/>
                    <a:p>
                      <a:pPr indent="0" marL="0">
                        <a:buNone/>
                      </a:pPr>
                      <a:r>
                        <a:rPr lang="en-US" sz="800" dirty="0">
                          <a:solidFill>
                            <a:srgbClr val="55575A"/>
                          </a:solidFill>
                          <a:latin typeface="Roboto Condensed" pitchFamily="34" charset="0"/>
                          <a:ea typeface="Roboto Condensed" pitchFamily="34" charset="-122"/>
                          <a:cs typeface="Roboto Condensed" pitchFamily="34" charset="-120"/>
                        </a:rPr>
                        <a:t>2</a:t>
                      </a:r>
                      <a:endParaRPr lang="en-US" sz="800" dirty="0">
                        <a:latin typeface="Roboto Condensed" charset="0"/>
                        <a:ea typeface="Roboto Condensed" charset="0"/>
                        <a:cs typeface="Roboto Condensed" charset="0"/>
                      </a:endParaRPr>
                    </a:p>
                  </a:txBody>
                  <a:tcPr marL="82696" marR="82696" marT="6350" marB="6350" anchor="ctr">
                    <a:lnL w="12700" cap="flat" cmpd="sng" algn="ctr">
                      <a:solidFill>
                        <a:srgbClr val="AEB0A7"/>
                      </a:solidFill>
                      <a:prstDash val="solid"/>
                      <a:round/>
                      <a:headEnd type="none" w="med" len="med"/>
                      <a:tailEnd type="none" w="med" len="med"/>
                    </a:lnL>
                    <a:lnR w="12700" cap="flat" cmpd="sng" algn="ctr">
                      <a:solidFill>
                        <a:srgbClr val="AEB0A7"/>
                      </a:solidFill>
                      <a:prstDash val="solid"/>
                      <a:round/>
                      <a:headEnd type="none" w="med" len="med"/>
                      <a:tailEnd type="none" w="med" len="med"/>
                    </a:lnR>
                    <a:lnT w="12700" cap="flat" cmpd="sng" algn="ctr">
                      <a:solidFill>
                        <a:srgbClr val="AEB0A7"/>
                      </a:solidFill>
                      <a:prstDash val="solid"/>
                      <a:round/>
                      <a:headEnd type="none" w="med" len="med"/>
                      <a:tailEnd type="none" w="med" len="med"/>
                    </a:lnT>
                    <a:lnB w="12700" cap="flat" cmpd="sng" algn="ctr">
                      <a:solidFill>
                        <a:srgbClr val="AEB0A7"/>
                      </a:solidFill>
                      <a:prstDash val="solid"/>
                      <a:round/>
                      <a:headEnd type="none" w="med" len="med"/>
                      <a:tailEnd type="none" w="med" len="med"/>
                    </a:lnB>
                    <a:solidFill>
                      <a:srgbClr val="E8E8E3"/>
                    </a:solidFill>
                  </a:tcPr>
                </a:tc>
              </a:tr>
            </a:tbl>
          </a:graphicData>
        </a:graphic>
      </p:graphicFrame>
      <p:sp>
        <p:nvSpPr>
          <p:cNvPr id="11" name="Shape 6"/>
          <p:cNvSpPr/>
          <p:nvPr/>
        </p:nvSpPr>
        <p:spPr>
          <a:xfrm>
            <a:off x="661475" y="7088584"/>
            <a:ext cx="10868745" cy="218877"/>
          </a:xfrm>
          <a:prstGeom prst="roundRect">
            <a:avLst>
              <a:gd name="adj" fmla="val 5667"/>
            </a:avLst>
          </a:prstGeom>
          <a:solidFill>
            <a:srgbClr val="E7E7E4"/>
          </a:solidFill>
          <a:ln/>
        </p:spPr>
      </p:sp>
      <p:pic>
        <p:nvPicPr>
          <p:cNvPr id="12" name="Image 2" descr="preencoded.png">    </p:cNvPr>
          <p:cNvPicPr>
            <a:picLocks noChangeAspect="1"/>
          </p:cNvPicPr>
          <p:nvPr/>
        </p:nvPicPr>
        <p:blipFill>
          <a:blip r:embed="rId3"/>
          <a:stretch>
            <a:fillRect/>
          </a:stretch>
        </p:blipFill>
        <p:spPr>
          <a:xfrm>
            <a:off x="744122" y="7150497"/>
            <a:ext cx="103284" cy="82649"/>
          </a:xfrm>
          <a:prstGeom prst="rect">
            <a:avLst/>
          </a:prstGeom>
        </p:spPr>
      </p:pic>
      <p:sp>
        <p:nvSpPr>
          <p:cNvPr id="13" name="Text 7"/>
          <p:cNvSpPr/>
          <p:nvPr/>
        </p:nvSpPr>
        <p:spPr>
          <a:xfrm>
            <a:off x="930053" y="7150497"/>
            <a:ext cx="11127104" cy="99120"/>
          </a:xfrm>
          <a:prstGeom prst="rect">
            <a:avLst/>
          </a:prstGeom>
          <a:noFill/>
          <a:ln/>
        </p:spPr>
        <p:txBody>
          <a:bodyPr wrap="none" lIns="0" tIns="0" rIns="0" bIns="0" rtlCol="0" anchor="t"/>
          <a:lstStyle/>
          <a:p>
            <a:pPr algn="l" indent="0" marL="0">
              <a:lnSpc>
                <a:spcPct val="100000"/>
              </a:lnSpc>
              <a:buNone/>
            </a:pPr>
            <a:r>
              <a:rPr lang="en-US" sz="650" b="1" dirty="0">
                <a:solidFill>
                  <a:srgbClr val="000000"/>
                </a:solidFill>
                <a:latin typeface="Roboto Condensed Bold" pitchFamily="34" charset="0"/>
                <a:ea typeface="Roboto Condensed Bold" pitchFamily="34" charset="-122"/>
                <a:cs typeface="Roboto Condensed Bold" pitchFamily="34" charset="-120"/>
              </a:rPr>
              <a:t>Business Insight:</a:t>
            </a:r>
            <a:pPr algn="l" indent="0" marL="0">
              <a:lnSpc>
                <a:spcPct val="100000"/>
              </a:lnSpc>
              <a:buNone/>
            </a:pPr>
            <a:r>
              <a:rPr lang="en-US" sz="650" dirty="0">
                <a:solidFill>
                  <a:srgbClr val="000000"/>
                </a:solidFill>
                <a:latin typeface="Roboto Condensed" pitchFamily="34" charset="0"/>
                <a:ea typeface="Roboto Condensed" pitchFamily="34" charset="-122"/>
                <a:cs typeface="Roboto Condensed" pitchFamily="34" charset="-120"/>
              </a:rPr>
              <a:t> Category-level ranking reveals the best performers within each segment — more actionable than overall rankings alone.</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17227"/>
            <a:ext cx="10868745" cy="323056"/>
          </a:xfrm>
          <a:prstGeom prst="rect">
            <a:avLst/>
          </a:prstGeom>
          <a:noFill/>
          <a:ln/>
        </p:spPr>
        <p:txBody>
          <a:bodyPr wrap="none" lIns="0" tIns="0" rIns="0" bIns="0" rtlCol="0" anchor="t"/>
          <a:lstStyle/>
          <a:p>
            <a:pPr algn="l" indent="0" marL="0">
              <a:lnSpc>
                <a:spcPct val="104000"/>
              </a:lnSpc>
              <a:buNone/>
            </a:pPr>
            <a:r>
              <a:rPr lang="en-US" sz="2000" b="1" dirty="0">
                <a:solidFill>
                  <a:srgbClr val="0C0D0F"/>
                </a:solidFill>
                <a:latin typeface="Hubot Sans Bold" pitchFamily="34" charset="0"/>
                <a:ea typeface="Hubot Sans Bold" pitchFamily="34" charset="-122"/>
                <a:cs typeface="Hubot Sans Bold" pitchFamily="34" charset="-120"/>
              </a:rPr>
              <a:t>KEY INSIGHTS, RECOMMENDATIONS &amp; NEXT STEPS</a:t>
            </a:r>
            <a:endParaRPr lang="en-US" sz="2000" dirty="0"/>
          </a:p>
        </p:txBody>
      </p:sp>
      <p:sp>
        <p:nvSpPr>
          <p:cNvPr id="3" name="Shape 1"/>
          <p:cNvSpPr/>
          <p:nvPr/>
        </p:nvSpPr>
        <p:spPr>
          <a:xfrm>
            <a:off x="586963" y="937121"/>
            <a:ext cx="5457292" cy="1231801"/>
          </a:xfrm>
          <a:prstGeom prst="roundRect">
            <a:avLst>
              <a:gd name="adj" fmla="val 1259"/>
            </a:avLst>
          </a:prstGeom>
          <a:solidFill>
            <a:srgbClr val="1E1E1A"/>
          </a:solidFill>
          <a:ln/>
        </p:spPr>
      </p:sp>
      <p:sp>
        <p:nvSpPr>
          <p:cNvPr id="4" name="Text 2"/>
          <p:cNvSpPr/>
          <p:nvPr/>
        </p:nvSpPr>
        <p:spPr>
          <a:xfrm>
            <a:off x="690248" y="1001713"/>
            <a:ext cx="5250723" cy="161429"/>
          </a:xfrm>
          <a:prstGeom prst="rect">
            <a:avLst/>
          </a:prstGeom>
          <a:noFill/>
          <a:ln/>
        </p:spPr>
        <p:txBody>
          <a:bodyPr wrap="none" lIns="0" tIns="0" rIns="0" bIns="0" rtlCol="0" anchor="t"/>
          <a:lstStyle/>
          <a:p>
            <a:pPr algn="l" indent="0" marL="0">
              <a:lnSpc>
                <a:spcPct val="104000"/>
              </a:lnSpc>
              <a:buNone/>
            </a:pPr>
            <a:r>
              <a:rPr lang="en-US" sz="1000" b="1" dirty="0">
                <a:solidFill>
                  <a:srgbClr val="FFFFFF"/>
                </a:solidFill>
                <a:latin typeface="Hubot Sans Bold" pitchFamily="34" charset="0"/>
                <a:ea typeface="Hubot Sans Bold" pitchFamily="34" charset="-122"/>
                <a:cs typeface="Hubot Sans Bold" pitchFamily="34" charset="-120"/>
              </a:rPr>
              <a:t>KEY BUSINESS INSIGHTS</a:t>
            </a:r>
            <a:endParaRPr lang="en-US" sz="1000" dirty="0"/>
          </a:p>
        </p:txBody>
      </p:sp>
      <p:sp>
        <p:nvSpPr>
          <p:cNvPr id="5" name="Text 3"/>
          <p:cNvSpPr/>
          <p:nvPr/>
        </p:nvSpPr>
        <p:spPr>
          <a:xfrm>
            <a:off x="690248" y="1227733"/>
            <a:ext cx="5250723" cy="918666"/>
          </a:xfrm>
          <a:prstGeom prst="rect">
            <a:avLst/>
          </a:prstGeom>
          <a:noFill/>
          <a:ln/>
        </p:spPr>
        <p:txBody>
          <a:bodyPr wrap="square" lIns="0" tIns="0" rIns="0" bIns="0" rtlCol="0" anchor="t">
            <a:normAutofit/>
          </a:bodyPr>
          <a:lstStyle/>
          <a:p>
            <a:pPr algn="l" marL="162560" indent="-162560">
              <a:lnSpc>
                <a:spcPct val="108000"/>
              </a:lnSpc>
              <a:buSzPct val="100000"/>
              <a:buChar char="•"/>
            </a:pPr>
            <a:r>
              <a:rPr lang="en-US" sz="800" dirty="0">
                <a:solidFill>
                  <a:srgbClr val="FFFFFF"/>
                </a:solidFill>
                <a:latin typeface="Roboto Condensed" pitchFamily="34" charset="0"/>
                <a:ea typeface="Roboto Condensed" pitchFamily="34" charset="-122"/>
                <a:cs typeface="Roboto Condensed" pitchFamily="34" charset="-120"/>
              </a:rPr>
              <a:t>Large is the most popular pizza size</a:t>
            </a:r>
            <a:endParaRPr lang="en-US" sz="800" dirty="0"/>
          </a:p>
          <a:p>
            <a:pPr algn="l" marL="162560" indent="-162560">
              <a:lnSpc>
                <a:spcPct val="108000"/>
              </a:lnSpc>
              <a:buSzPct val="100000"/>
              <a:buChar char="•"/>
            </a:pPr>
            <a:r>
              <a:rPr lang="en-US" sz="800" dirty="0">
                <a:solidFill>
                  <a:srgbClr val="FFFFFF"/>
                </a:solidFill>
                <a:latin typeface="Roboto Condensed" pitchFamily="34" charset="0"/>
                <a:ea typeface="Roboto Condensed" pitchFamily="34" charset="-122"/>
                <a:cs typeface="Roboto Condensed" pitchFamily="34" charset="-120"/>
              </a:rPr>
              <a:t>Classic category leads in quantity and revenue share (26.91%)</a:t>
            </a:r>
            <a:endParaRPr lang="en-US" sz="800" dirty="0"/>
          </a:p>
          <a:p>
            <a:pPr algn="l" marL="162560" indent="-162560">
              <a:lnSpc>
                <a:spcPct val="108000"/>
              </a:lnSpc>
              <a:buSzPct val="100000"/>
              <a:buChar char="•"/>
            </a:pPr>
            <a:r>
              <a:rPr lang="en-US" sz="800" dirty="0">
                <a:solidFill>
                  <a:srgbClr val="FFFFFF"/>
                </a:solidFill>
                <a:latin typeface="Roboto Condensed" pitchFamily="34" charset="0"/>
                <a:ea typeface="Roboto Condensed" pitchFamily="34" charset="-122"/>
                <a:cs typeface="Roboto Condensed" pitchFamily="34" charset="-120"/>
              </a:rPr>
              <a:t>Chicken pizzas dominate the top 3 revenue positions</a:t>
            </a:r>
            <a:endParaRPr lang="en-US" sz="800" dirty="0"/>
          </a:p>
          <a:p>
            <a:pPr algn="l" marL="162560" indent="-162560">
              <a:lnSpc>
                <a:spcPct val="108000"/>
              </a:lnSpc>
              <a:buSzPct val="100000"/>
              <a:buChar char="•"/>
            </a:pPr>
            <a:r>
              <a:rPr lang="en-US" sz="800" dirty="0">
                <a:solidFill>
                  <a:srgbClr val="FFFFFF"/>
                </a:solidFill>
                <a:latin typeface="Roboto Condensed" pitchFamily="34" charset="0"/>
                <a:ea typeface="Roboto Condensed" pitchFamily="34" charset="-122"/>
                <a:cs typeface="Roboto Condensed" pitchFamily="34" charset="-120"/>
              </a:rPr>
              <a:t>Orders peak at lunch (12–1 PM) and dinner (5–8 PM)</a:t>
            </a:r>
            <a:endParaRPr lang="en-US" sz="800" dirty="0"/>
          </a:p>
          <a:p>
            <a:pPr algn="l" marL="162560" indent="-162560">
              <a:lnSpc>
                <a:spcPct val="108000"/>
              </a:lnSpc>
              <a:buSzPct val="100000"/>
              <a:buChar char="•"/>
            </a:pPr>
            <a:r>
              <a:rPr lang="en-US" sz="800" dirty="0">
                <a:solidFill>
                  <a:srgbClr val="FFFFFF"/>
                </a:solidFill>
                <a:latin typeface="Roboto Condensed" pitchFamily="34" charset="0"/>
                <a:ea typeface="Roboto Condensed" pitchFamily="34" charset="-122"/>
                <a:cs typeface="Roboto Condensed" pitchFamily="34" charset="-120"/>
              </a:rPr>
              <a:t>Average daily demand: 138 pizzas</a:t>
            </a:r>
            <a:endParaRPr lang="en-US" sz="800" dirty="0"/>
          </a:p>
          <a:p>
            <a:pPr algn="l" marL="162560" indent="-162560">
              <a:lnSpc>
                <a:spcPct val="108000"/>
              </a:lnSpc>
              <a:buSzPct val="100000"/>
              <a:buChar char="•"/>
            </a:pPr>
            <a:r>
              <a:rPr lang="en-US" sz="800" dirty="0">
                <a:solidFill>
                  <a:srgbClr val="FFFFFF"/>
                </a:solidFill>
                <a:latin typeface="Roboto Condensed" pitchFamily="34" charset="0"/>
                <a:ea typeface="Roboto Condensed" pitchFamily="34" charset="-122"/>
                <a:cs typeface="Roboto Condensed" pitchFamily="34" charset="-120"/>
              </a:rPr>
              <a:t>Supreme and Veggie offer the broadest menu variety</a:t>
            </a:r>
            <a:endParaRPr lang="en-US" sz="800" dirty="0"/>
          </a:p>
        </p:txBody>
      </p:sp>
      <p:sp>
        <p:nvSpPr>
          <p:cNvPr id="6" name="Text 4"/>
          <p:cNvSpPr/>
          <p:nvPr/>
        </p:nvSpPr>
        <p:spPr>
          <a:xfrm>
            <a:off x="6228301" y="1001713"/>
            <a:ext cx="5308269" cy="161429"/>
          </a:xfrm>
          <a:prstGeom prst="rect">
            <a:avLst/>
          </a:prstGeom>
          <a:noFill/>
          <a:ln/>
        </p:spPr>
        <p:txBody>
          <a:bodyPr wrap="none" lIns="0" tIns="0" rIns="0" bIns="0" rtlCol="0" anchor="t"/>
          <a:lstStyle/>
          <a:p>
            <a:pPr algn="l" indent="0" marL="0">
              <a:lnSpc>
                <a:spcPct val="104000"/>
              </a:lnSpc>
              <a:buNone/>
            </a:pPr>
            <a:r>
              <a:rPr lang="en-US" sz="1000" b="1" dirty="0">
                <a:solidFill>
                  <a:srgbClr val="0C0D0F"/>
                </a:solidFill>
                <a:latin typeface="Hubot Sans Bold" pitchFamily="34" charset="0"/>
                <a:ea typeface="Hubot Sans Bold" pitchFamily="34" charset="-122"/>
                <a:cs typeface="Hubot Sans Bold" pitchFamily="34" charset="-120"/>
              </a:rPr>
              <a:t>STRATEGIC RECOMMENDATIONS</a:t>
            </a:r>
            <a:endParaRPr lang="en-US" sz="1000" dirty="0"/>
          </a:p>
        </p:txBody>
      </p:sp>
      <p:sp>
        <p:nvSpPr>
          <p:cNvPr id="7" name="Text 5"/>
          <p:cNvSpPr/>
          <p:nvPr/>
        </p:nvSpPr>
        <p:spPr>
          <a:xfrm>
            <a:off x="6228301" y="1227733"/>
            <a:ext cx="5308269" cy="604937"/>
          </a:xfrm>
          <a:prstGeom prst="rect">
            <a:avLst/>
          </a:prstGeom>
          <a:noFill/>
          <a:ln/>
        </p:spPr>
        <p:txBody>
          <a:bodyPr wrap="square" lIns="0" tIns="0" rIns="0" bIns="0" rtlCol="0" anchor="t">
            <a:normAutofit/>
          </a:bodyPr>
          <a:lstStyle/>
          <a:p>
            <a:pPr algn="l" marL="162560" indent="-162560">
              <a:lnSpc>
                <a:spcPct val="108000"/>
              </a:lnSpc>
              <a:buSzPct val="100000"/>
              <a:buChar char="•"/>
            </a:pPr>
            <a:r>
              <a:rPr lang="en-US" sz="800" b="1" dirty="0">
                <a:solidFill>
                  <a:srgbClr val="55575A"/>
                </a:solidFill>
                <a:latin typeface="Roboto Condensed Bold" pitchFamily="34" charset="0"/>
                <a:ea typeface="Roboto Condensed Bold" pitchFamily="34" charset="-122"/>
                <a:cs typeface="Roboto Condensed Bold" pitchFamily="34" charset="-120"/>
              </a:rPr>
              <a:t>Menu:</a:t>
            </a:r>
            <a:pPr algn="l" marL="162560" indent="-162560">
              <a:lnSpc>
                <a:spcPct val="108000"/>
              </a:lnSpc>
              <a:buSzPct val="100000"/>
              <a:buChar char="•"/>
            </a:pPr>
            <a:r>
              <a:rPr lang="en-US" sz="800" dirty="0">
                <a:solidFill>
                  <a:srgbClr val="55575A"/>
                </a:solidFill>
                <a:latin typeface="Roboto Condensed" pitchFamily="34" charset="0"/>
                <a:ea typeface="Roboto Condensed" pitchFamily="34" charset="-122"/>
                <a:cs typeface="Roboto Condensed" pitchFamily="34" charset="-120"/>
              </a:rPr>
              <a:t> Promote Thai Chicken, Barbecue Chicken, and California Chicken in bundles</a:t>
            </a:r>
            <a:endParaRPr lang="en-US" sz="800" dirty="0"/>
          </a:p>
          <a:p>
            <a:pPr algn="l" marL="162560" indent="-162560">
              <a:lnSpc>
                <a:spcPct val="108000"/>
              </a:lnSpc>
              <a:buSzPct val="100000"/>
              <a:buChar char="•"/>
            </a:pPr>
            <a:r>
              <a:rPr lang="en-US" sz="800" b="1" dirty="0">
                <a:solidFill>
                  <a:srgbClr val="55575A"/>
                </a:solidFill>
                <a:latin typeface="Roboto Condensed Bold" pitchFamily="34" charset="0"/>
                <a:ea typeface="Roboto Condensed Bold" pitchFamily="34" charset="-122"/>
                <a:cs typeface="Roboto Condensed Bold" pitchFamily="34" charset="-120"/>
              </a:rPr>
              <a:t>Inventory:</a:t>
            </a:r>
            <a:pPr algn="l" marL="162560" indent="-162560">
              <a:lnSpc>
                <a:spcPct val="108000"/>
              </a:lnSpc>
              <a:buSzPct val="100000"/>
              <a:buChar char="•"/>
            </a:pPr>
            <a:r>
              <a:rPr lang="en-US" sz="800" dirty="0">
                <a:solidFill>
                  <a:srgbClr val="55575A"/>
                </a:solidFill>
                <a:latin typeface="Roboto Condensed" pitchFamily="34" charset="0"/>
                <a:ea typeface="Roboto Condensed" pitchFamily="34" charset="-122"/>
                <a:cs typeface="Roboto Condensed" pitchFamily="34" charset="-120"/>
              </a:rPr>
              <a:t> Stock up on Large and Classic pizza ingredients before peak hours</a:t>
            </a:r>
            <a:endParaRPr lang="en-US" sz="800" dirty="0"/>
          </a:p>
          <a:p>
            <a:pPr algn="l" marL="162560" indent="-162560">
              <a:lnSpc>
                <a:spcPct val="108000"/>
              </a:lnSpc>
              <a:buSzPct val="100000"/>
              <a:buChar char="•"/>
            </a:pPr>
            <a:r>
              <a:rPr lang="en-US" sz="800" b="1" dirty="0">
                <a:solidFill>
                  <a:srgbClr val="55575A"/>
                </a:solidFill>
                <a:latin typeface="Roboto Condensed Bold" pitchFamily="34" charset="0"/>
                <a:ea typeface="Roboto Condensed Bold" pitchFamily="34" charset="-122"/>
                <a:cs typeface="Roboto Condensed Bold" pitchFamily="34" charset="-120"/>
              </a:rPr>
              <a:t>Marketing:</a:t>
            </a:r>
            <a:pPr algn="l" marL="162560" indent="-162560">
              <a:lnSpc>
                <a:spcPct val="108000"/>
              </a:lnSpc>
              <a:buSzPct val="100000"/>
              <a:buChar char="•"/>
            </a:pPr>
            <a:r>
              <a:rPr lang="en-US" sz="800" dirty="0">
                <a:solidFill>
                  <a:srgbClr val="55575A"/>
                </a:solidFill>
                <a:latin typeface="Roboto Condensed" pitchFamily="34" charset="0"/>
                <a:ea typeface="Roboto Condensed" pitchFamily="34" charset="-122"/>
                <a:cs typeface="Roboto Condensed" pitchFamily="34" charset="-120"/>
              </a:rPr>
              <a:t> Offer lunch bundles (12–1 PM) and off-peak discounts (9–11 AM, after 10 PM)</a:t>
            </a:r>
            <a:endParaRPr lang="en-US" sz="800" dirty="0"/>
          </a:p>
          <a:p>
            <a:pPr algn="l" marL="162560" indent="-162560">
              <a:lnSpc>
                <a:spcPct val="108000"/>
              </a:lnSpc>
              <a:buSzPct val="100000"/>
              <a:buChar char="•"/>
            </a:pPr>
            <a:r>
              <a:rPr lang="en-US" sz="800" b="1" dirty="0">
                <a:solidFill>
                  <a:srgbClr val="55575A"/>
                </a:solidFill>
                <a:latin typeface="Roboto Condensed Bold" pitchFamily="34" charset="0"/>
                <a:ea typeface="Roboto Condensed Bold" pitchFamily="34" charset="-122"/>
                <a:cs typeface="Roboto Condensed Bold" pitchFamily="34" charset="-120"/>
              </a:rPr>
              <a:t>Analytics:</a:t>
            </a:r>
            <a:pPr algn="l" marL="162560" indent="-162560">
              <a:lnSpc>
                <a:spcPct val="108000"/>
              </a:lnSpc>
              <a:buSzPct val="100000"/>
              <a:buChar char="•"/>
            </a:pPr>
            <a:r>
              <a:rPr lang="en-US" sz="800" dirty="0">
                <a:solidFill>
                  <a:srgbClr val="55575A"/>
                </a:solidFill>
                <a:latin typeface="Roboto Condensed" pitchFamily="34" charset="0"/>
                <a:ea typeface="Roboto Condensed" pitchFamily="34" charset="-122"/>
                <a:cs typeface="Roboto Condensed" pitchFamily="34" charset="-120"/>
              </a:rPr>
              <a:t> Build a Power BI dashboard tracking revenue, quantity, and repeat customers</a:t>
            </a:r>
            <a:endParaRPr lang="en-US" sz="800" dirty="0"/>
          </a:p>
        </p:txBody>
      </p:sp>
      <p:sp>
        <p:nvSpPr>
          <p:cNvPr id="8" name="Text 6"/>
          <p:cNvSpPr/>
          <p:nvPr/>
        </p:nvSpPr>
        <p:spPr>
          <a:xfrm>
            <a:off x="661475" y="2265759"/>
            <a:ext cx="10868745" cy="161429"/>
          </a:xfrm>
          <a:prstGeom prst="rect">
            <a:avLst/>
          </a:prstGeom>
          <a:noFill/>
          <a:ln/>
        </p:spPr>
        <p:txBody>
          <a:bodyPr wrap="none" lIns="0" tIns="0" rIns="0" bIns="0" rtlCol="0" anchor="t"/>
          <a:lstStyle/>
          <a:p>
            <a:pPr algn="l" indent="0" marL="0">
              <a:lnSpc>
                <a:spcPct val="104000"/>
              </a:lnSpc>
              <a:buNone/>
            </a:pPr>
            <a:r>
              <a:rPr lang="en-US" sz="1000" b="1" dirty="0">
                <a:solidFill>
                  <a:srgbClr val="0C0D0F"/>
                </a:solidFill>
                <a:latin typeface="Hubot Sans Bold" pitchFamily="34" charset="0"/>
                <a:ea typeface="Hubot Sans Bold" pitchFamily="34" charset="-122"/>
                <a:cs typeface="Hubot Sans Bold" pitchFamily="34" charset="-120"/>
              </a:rPr>
              <a:t>SQL TECHNIQUES DEMONSTRATED</a:t>
            </a:r>
            <a:endParaRPr lang="en-US" sz="1000" dirty="0"/>
          </a:p>
        </p:txBody>
      </p:sp>
      <p:sp>
        <p:nvSpPr>
          <p:cNvPr id="9" name="Shape 7"/>
          <p:cNvSpPr/>
          <p:nvPr/>
        </p:nvSpPr>
        <p:spPr>
          <a:xfrm>
            <a:off x="661475" y="2524026"/>
            <a:ext cx="5402028" cy="915690"/>
          </a:xfrm>
          <a:prstGeom prst="roundRect">
            <a:avLst>
              <a:gd name="adj" fmla="val 1693"/>
            </a:avLst>
          </a:prstGeom>
          <a:solidFill>
            <a:srgbClr val="D8D9D2"/>
          </a:solidFill>
          <a:ln/>
        </p:spPr>
      </p:sp>
      <p:sp>
        <p:nvSpPr>
          <p:cNvPr id="10" name="Shape 8"/>
          <p:cNvSpPr/>
          <p:nvPr/>
        </p:nvSpPr>
        <p:spPr>
          <a:xfrm>
            <a:off x="764759" y="2627313"/>
            <a:ext cx="310051" cy="310059"/>
          </a:xfrm>
          <a:prstGeom prst="ellipse">
            <a:avLst/>
          </a:prstGeom>
          <a:solidFill>
            <a:srgbClr val="C8CAC1"/>
          </a:solidFill>
          <a:ln/>
        </p:spPr>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49986" y="2712541"/>
            <a:ext cx="139498" cy="139502"/>
          </a:xfrm>
          <a:prstGeom prst="rect">
            <a:avLst/>
          </a:prstGeom>
        </p:spPr>
      </p:pic>
      <p:sp>
        <p:nvSpPr>
          <p:cNvPr id="12" name="Text 9"/>
          <p:cNvSpPr/>
          <p:nvPr/>
        </p:nvSpPr>
        <p:spPr>
          <a:xfrm>
            <a:off x="764759" y="3001962"/>
            <a:ext cx="5195460" cy="161429"/>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Hubot Sans Bold" pitchFamily="34" charset="0"/>
                <a:ea typeface="Hubot Sans Bold" pitchFamily="34" charset="-122"/>
                <a:cs typeface="Hubot Sans Bold" pitchFamily="34" charset="-120"/>
              </a:rPr>
              <a:t>SELECT &amp; FILTERING</a:t>
            </a:r>
            <a:endParaRPr lang="en-US" sz="1000" dirty="0"/>
          </a:p>
        </p:txBody>
      </p:sp>
      <p:sp>
        <p:nvSpPr>
          <p:cNvPr id="13" name="Shape 10"/>
          <p:cNvSpPr/>
          <p:nvPr/>
        </p:nvSpPr>
        <p:spPr>
          <a:xfrm>
            <a:off x="6128093" y="2524026"/>
            <a:ext cx="5402127" cy="915690"/>
          </a:xfrm>
          <a:prstGeom prst="roundRect">
            <a:avLst>
              <a:gd name="adj" fmla="val 1693"/>
            </a:avLst>
          </a:prstGeom>
          <a:solidFill>
            <a:srgbClr val="D8D9D2"/>
          </a:solidFill>
          <a:ln/>
        </p:spPr>
      </p:sp>
      <p:sp>
        <p:nvSpPr>
          <p:cNvPr id="14" name="Shape 11"/>
          <p:cNvSpPr/>
          <p:nvPr/>
        </p:nvSpPr>
        <p:spPr>
          <a:xfrm>
            <a:off x="6231377" y="2627313"/>
            <a:ext cx="310051" cy="310059"/>
          </a:xfrm>
          <a:prstGeom prst="ellipse">
            <a:avLst/>
          </a:prstGeom>
          <a:solidFill>
            <a:srgbClr val="C8CAC1"/>
          </a:solidFill>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6604" y="2712541"/>
            <a:ext cx="139498" cy="139502"/>
          </a:xfrm>
          <a:prstGeom prst="rect">
            <a:avLst/>
          </a:prstGeom>
        </p:spPr>
      </p:pic>
      <p:sp>
        <p:nvSpPr>
          <p:cNvPr id="16" name="Text 12"/>
          <p:cNvSpPr/>
          <p:nvPr/>
        </p:nvSpPr>
        <p:spPr>
          <a:xfrm>
            <a:off x="6231377" y="3001962"/>
            <a:ext cx="5195559" cy="161429"/>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Hubot Sans Bold" pitchFamily="34" charset="0"/>
                <a:ea typeface="Hubot Sans Bold" pitchFamily="34" charset="-122"/>
                <a:cs typeface="Hubot Sans Bold" pitchFamily="34" charset="-120"/>
              </a:rPr>
              <a:t>AGGREGATIONS</a:t>
            </a:r>
            <a:endParaRPr lang="en-US" sz="1000" dirty="0"/>
          </a:p>
        </p:txBody>
      </p:sp>
      <p:sp>
        <p:nvSpPr>
          <p:cNvPr id="17" name="Text 13"/>
          <p:cNvSpPr/>
          <p:nvPr/>
        </p:nvSpPr>
        <p:spPr>
          <a:xfrm>
            <a:off x="6231377" y="3202087"/>
            <a:ext cx="5195559" cy="134342"/>
          </a:xfrm>
          <a:prstGeom prst="rect">
            <a:avLst/>
          </a:prstGeom>
          <a:noFill/>
          <a:ln/>
        </p:spPr>
        <p:txBody>
          <a:bodyPr wrap="none" lIns="0" tIns="0" rIns="0" bIns="0" rtlCol="0" anchor="t"/>
          <a:lstStyle/>
          <a:p>
            <a:pPr algn="l" indent="0" marL="0">
              <a:lnSpc>
                <a:spcPct val="108000"/>
              </a:lnSpc>
              <a:buNone/>
            </a:pPr>
            <a:r>
              <a:rPr lang="en-US" sz="800" dirty="0">
                <a:solidFill>
                  <a:srgbClr val="000000"/>
                </a:solidFill>
                <a:latin typeface="Roboto Condensed" pitchFamily="34" charset="0"/>
                <a:ea typeface="Roboto Condensed" pitchFamily="34" charset="-122"/>
                <a:cs typeface="Roboto Condensed" pitchFamily="34" charset="-120"/>
              </a:rPr>
              <a:t>COUNT, SUM, AVG, ROUND</a:t>
            </a:r>
            <a:endParaRPr lang="en-US" sz="800" dirty="0"/>
          </a:p>
        </p:txBody>
      </p:sp>
      <p:sp>
        <p:nvSpPr>
          <p:cNvPr id="18" name="Shape 14"/>
          <p:cNvSpPr/>
          <p:nvPr/>
        </p:nvSpPr>
        <p:spPr>
          <a:xfrm>
            <a:off x="661475" y="3504307"/>
            <a:ext cx="5402028" cy="915690"/>
          </a:xfrm>
          <a:prstGeom prst="roundRect">
            <a:avLst>
              <a:gd name="adj" fmla="val 1693"/>
            </a:avLst>
          </a:prstGeom>
          <a:solidFill>
            <a:srgbClr val="D8D9D2"/>
          </a:solidFill>
          <a:ln/>
        </p:spPr>
      </p:sp>
      <p:sp>
        <p:nvSpPr>
          <p:cNvPr id="19" name="Shape 15"/>
          <p:cNvSpPr/>
          <p:nvPr/>
        </p:nvSpPr>
        <p:spPr>
          <a:xfrm>
            <a:off x="764759" y="3607594"/>
            <a:ext cx="310051" cy="310059"/>
          </a:xfrm>
          <a:prstGeom prst="ellipse">
            <a:avLst/>
          </a:prstGeom>
          <a:solidFill>
            <a:srgbClr val="C8CAC1"/>
          </a:solidFill>
          <a:ln/>
        </p:spPr>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9986" y="3692823"/>
            <a:ext cx="139498" cy="139502"/>
          </a:xfrm>
          <a:prstGeom prst="rect">
            <a:avLst/>
          </a:prstGeom>
        </p:spPr>
      </p:pic>
      <p:sp>
        <p:nvSpPr>
          <p:cNvPr id="21" name="Text 16"/>
          <p:cNvSpPr/>
          <p:nvPr/>
        </p:nvSpPr>
        <p:spPr>
          <a:xfrm>
            <a:off x="764759" y="3982244"/>
            <a:ext cx="5195460" cy="161429"/>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Hubot Sans Bold" pitchFamily="34" charset="0"/>
                <a:ea typeface="Hubot Sans Bold" pitchFamily="34" charset="-122"/>
                <a:cs typeface="Hubot Sans Bold" pitchFamily="34" charset="-120"/>
              </a:rPr>
              <a:t>JOINS</a:t>
            </a:r>
            <a:endParaRPr lang="en-US" sz="1000" dirty="0"/>
          </a:p>
        </p:txBody>
      </p:sp>
      <p:sp>
        <p:nvSpPr>
          <p:cNvPr id="22" name="Text 17"/>
          <p:cNvSpPr/>
          <p:nvPr/>
        </p:nvSpPr>
        <p:spPr>
          <a:xfrm>
            <a:off x="764759" y="4182368"/>
            <a:ext cx="5195460" cy="134342"/>
          </a:xfrm>
          <a:prstGeom prst="rect">
            <a:avLst/>
          </a:prstGeom>
          <a:noFill/>
          <a:ln/>
        </p:spPr>
        <p:txBody>
          <a:bodyPr wrap="none" lIns="0" tIns="0" rIns="0" bIns="0" rtlCol="0" anchor="t"/>
          <a:lstStyle/>
          <a:p>
            <a:pPr algn="l" indent="0" marL="0">
              <a:lnSpc>
                <a:spcPct val="108000"/>
              </a:lnSpc>
              <a:buNone/>
            </a:pPr>
            <a:r>
              <a:rPr lang="en-US" sz="800" dirty="0">
                <a:solidFill>
                  <a:srgbClr val="000000"/>
                </a:solidFill>
                <a:latin typeface="Roboto Condensed" pitchFamily="34" charset="0"/>
                <a:ea typeface="Roboto Condensed" pitchFamily="34" charset="-122"/>
                <a:cs typeface="Roboto Condensed" pitchFamily="34" charset="-120"/>
              </a:rPr>
              <a:t>INNER JOIN across 4 tables</a:t>
            </a:r>
            <a:endParaRPr lang="en-US" sz="800" dirty="0"/>
          </a:p>
        </p:txBody>
      </p:sp>
      <p:sp>
        <p:nvSpPr>
          <p:cNvPr id="23" name="Shape 18"/>
          <p:cNvSpPr/>
          <p:nvPr/>
        </p:nvSpPr>
        <p:spPr>
          <a:xfrm>
            <a:off x="6128093" y="3504307"/>
            <a:ext cx="5402127" cy="915690"/>
          </a:xfrm>
          <a:prstGeom prst="roundRect">
            <a:avLst>
              <a:gd name="adj" fmla="val 1693"/>
            </a:avLst>
          </a:prstGeom>
          <a:solidFill>
            <a:srgbClr val="D8D9D2"/>
          </a:solidFill>
          <a:ln/>
        </p:spPr>
      </p:sp>
      <p:sp>
        <p:nvSpPr>
          <p:cNvPr id="24" name="Shape 19"/>
          <p:cNvSpPr/>
          <p:nvPr/>
        </p:nvSpPr>
        <p:spPr>
          <a:xfrm>
            <a:off x="6231377" y="3607594"/>
            <a:ext cx="310051" cy="310059"/>
          </a:xfrm>
          <a:prstGeom prst="ellipse">
            <a:avLst/>
          </a:prstGeom>
          <a:solidFill>
            <a:srgbClr val="C8CAC1"/>
          </a:solidFill>
          <a:ln/>
        </p:spPr>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6604" y="3692823"/>
            <a:ext cx="139498" cy="139502"/>
          </a:xfrm>
          <a:prstGeom prst="rect">
            <a:avLst/>
          </a:prstGeom>
        </p:spPr>
      </p:pic>
      <p:sp>
        <p:nvSpPr>
          <p:cNvPr id="26" name="Text 20"/>
          <p:cNvSpPr/>
          <p:nvPr/>
        </p:nvSpPr>
        <p:spPr>
          <a:xfrm>
            <a:off x="6231377" y="3982244"/>
            <a:ext cx="5195559" cy="161429"/>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Hubot Sans Bold" pitchFamily="34" charset="0"/>
                <a:ea typeface="Hubot Sans Bold" pitchFamily="34" charset="-122"/>
                <a:cs typeface="Hubot Sans Bold" pitchFamily="34" charset="-120"/>
              </a:rPr>
              <a:t>CTES &amp; SUBQUERIES</a:t>
            </a:r>
            <a:endParaRPr lang="en-US" sz="1000" dirty="0"/>
          </a:p>
        </p:txBody>
      </p:sp>
      <p:sp>
        <p:nvSpPr>
          <p:cNvPr id="27" name="Shape 21"/>
          <p:cNvSpPr/>
          <p:nvPr/>
        </p:nvSpPr>
        <p:spPr>
          <a:xfrm>
            <a:off x="661475" y="4484588"/>
            <a:ext cx="5402028" cy="915690"/>
          </a:xfrm>
          <a:prstGeom prst="roundRect">
            <a:avLst>
              <a:gd name="adj" fmla="val 1693"/>
            </a:avLst>
          </a:prstGeom>
          <a:solidFill>
            <a:srgbClr val="D8D9D2"/>
          </a:solidFill>
          <a:ln/>
        </p:spPr>
      </p:sp>
      <p:sp>
        <p:nvSpPr>
          <p:cNvPr id="28" name="Shape 22"/>
          <p:cNvSpPr/>
          <p:nvPr/>
        </p:nvSpPr>
        <p:spPr>
          <a:xfrm>
            <a:off x="764759" y="4587875"/>
            <a:ext cx="310051" cy="310059"/>
          </a:xfrm>
          <a:prstGeom prst="ellipse">
            <a:avLst/>
          </a:prstGeom>
          <a:solidFill>
            <a:srgbClr val="C8CAC1"/>
          </a:solidFill>
          <a:ln/>
        </p:spPr>
      </p:sp>
      <p:pic>
        <p:nvPicPr>
          <p:cNvPr id="2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9986" y="4673104"/>
            <a:ext cx="139498" cy="139502"/>
          </a:xfrm>
          <a:prstGeom prst="rect">
            <a:avLst/>
          </a:prstGeom>
        </p:spPr>
      </p:pic>
      <p:sp>
        <p:nvSpPr>
          <p:cNvPr id="30" name="Text 23"/>
          <p:cNvSpPr/>
          <p:nvPr/>
        </p:nvSpPr>
        <p:spPr>
          <a:xfrm>
            <a:off x="764759" y="4962525"/>
            <a:ext cx="5195460" cy="161429"/>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Hubot Sans Bold" pitchFamily="34" charset="0"/>
                <a:ea typeface="Hubot Sans Bold" pitchFamily="34" charset="-122"/>
                <a:cs typeface="Hubot Sans Bold" pitchFamily="34" charset="-120"/>
              </a:rPr>
              <a:t>WINDOW FUNCTIONS</a:t>
            </a:r>
            <a:endParaRPr lang="en-US" sz="1000" dirty="0"/>
          </a:p>
        </p:txBody>
      </p:sp>
      <p:sp>
        <p:nvSpPr>
          <p:cNvPr id="31" name="Text 24"/>
          <p:cNvSpPr/>
          <p:nvPr/>
        </p:nvSpPr>
        <p:spPr>
          <a:xfrm>
            <a:off x="764759" y="5162649"/>
            <a:ext cx="5195460" cy="134342"/>
          </a:xfrm>
          <a:prstGeom prst="rect">
            <a:avLst/>
          </a:prstGeom>
          <a:noFill/>
          <a:ln/>
        </p:spPr>
        <p:txBody>
          <a:bodyPr wrap="none" lIns="0" tIns="0" rIns="0" bIns="0" rtlCol="0" anchor="t"/>
          <a:lstStyle/>
          <a:p>
            <a:pPr algn="l" indent="0" marL="0">
              <a:lnSpc>
                <a:spcPct val="108000"/>
              </a:lnSpc>
              <a:buNone/>
            </a:pPr>
            <a:r>
              <a:rPr lang="en-US" sz="800" dirty="0">
                <a:solidFill>
                  <a:srgbClr val="000000"/>
                </a:solidFill>
                <a:latin typeface="Roboto Condensed" pitchFamily="34" charset="0"/>
                <a:ea typeface="Roboto Condensed" pitchFamily="34" charset="-122"/>
                <a:cs typeface="Roboto Condensed" pitchFamily="34" charset="-120"/>
              </a:rPr>
              <a:t>RANK, PARTITION BY, running totals</a:t>
            </a:r>
            <a:endParaRPr lang="en-US" sz="800" dirty="0"/>
          </a:p>
        </p:txBody>
      </p:sp>
      <p:sp>
        <p:nvSpPr>
          <p:cNvPr id="32" name="Shape 25"/>
          <p:cNvSpPr/>
          <p:nvPr/>
        </p:nvSpPr>
        <p:spPr>
          <a:xfrm>
            <a:off x="6128093" y="4484588"/>
            <a:ext cx="5402127" cy="915690"/>
          </a:xfrm>
          <a:prstGeom prst="roundRect">
            <a:avLst>
              <a:gd name="adj" fmla="val 1693"/>
            </a:avLst>
          </a:prstGeom>
          <a:solidFill>
            <a:srgbClr val="D8D9D2"/>
          </a:solidFill>
          <a:ln/>
        </p:spPr>
      </p:sp>
      <p:sp>
        <p:nvSpPr>
          <p:cNvPr id="33" name="Shape 26"/>
          <p:cNvSpPr/>
          <p:nvPr/>
        </p:nvSpPr>
        <p:spPr>
          <a:xfrm>
            <a:off x="6231377" y="4587875"/>
            <a:ext cx="310051" cy="310059"/>
          </a:xfrm>
          <a:prstGeom prst="ellipse">
            <a:avLst/>
          </a:prstGeom>
          <a:solidFill>
            <a:srgbClr val="C8CAC1"/>
          </a:solidFill>
          <a:ln/>
        </p:spPr>
      </p:sp>
      <p:pic>
        <p:nvPicPr>
          <p:cNvPr id="3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16604" y="4673104"/>
            <a:ext cx="139498" cy="139502"/>
          </a:xfrm>
          <a:prstGeom prst="rect">
            <a:avLst/>
          </a:prstGeom>
        </p:spPr>
      </p:pic>
      <p:sp>
        <p:nvSpPr>
          <p:cNvPr id="35" name="Text 27"/>
          <p:cNvSpPr/>
          <p:nvPr/>
        </p:nvSpPr>
        <p:spPr>
          <a:xfrm>
            <a:off x="6231377" y="4962525"/>
            <a:ext cx="5195559" cy="161429"/>
          </a:xfrm>
          <a:prstGeom prst="rect">
            <a:avLst/>
          </a:prstGeom>
          <a:noFill/>
          <a:ln/>
        </p:spPr>
        <p:txBody>
          <a:bodyPr wrap="none" lIns="0" tIns="0" rIns="0" bIns="0" rtlCol="0" anchor="t"/>
          <a:lstStyle/>
          <a:p>
            <a:pPr algn="l" indent="0" marL="0">
              <a:lnSpc>
                <a:spcPct val="104000"/>
              </a:lnSpc>
              <a:buNone/>
            </a:pPr>
            <a:r>
              <a:rPr lang="en-US" sz="1000" b="1" dirty="0">
                <a:solidFill>
                  <a:srgbClr val="000000"/>
                </a:solidFill>
                <a:latin typeface="Hubot Sans Bold" pitchFamily="34" charset="0"/>
                <a:ea typeface="Hubot Sans Bold" pitchFamily="34" charset="-122"/>
                <a:cs typeface="Hubot Sans Bold" pitchFamily="34" charset="-120"/>
              </a:rPr>
              <a:t>DATE FUNCTIONS</a:t>
            </a:r>
            <a:endParaRPr lang="en-US" sz="1000" dirty="0"/>
          </a:p>
        </p:txBody>
      </p:sp>
      <p:sp>
        <p:nvSpPr>
          <p:cNvPr id="36" name="Text 28"/>
          <p:cNvSpPr/>
          <p:nvPr/>
        </p:nvSpPr>
        <p:spPr>
          <a:xfrm>
            <a:off x="6231377" y="5162649"/>
            <a:ext cx="5195559" cy="134342"/>
          </a:xfrm>
          <a:prstGeom prst="rect">
            <a:avLst/>
          </a:prstGeom>
          <a:noFill/>
          <a:ln/>
        </p:spPr>
        <p:txBody>
          <a:bodyPr wrap="none" lIns="0" tIns="0" rIns="0" bIns="0" rtlCol="0" anchor="t"/>
          <a:lstStyle/>
          <a:p>
            <a:pPr algn="l" indent="0" marL="0">
              <a:lnSpc>
                <a:spcPct val="108000"/>
              </a:lnSpc>
              <a:buNone/>
            </a:pPr>
            <a:r>
              <a:rPr lang="en-US" sz="800" dirty="0">
                <a:solidFill>
                  <a:srgbClr val="000000"/>
                </a:solidFill>
                <a:latin typeface="Roboto Condensed" pitchFamily="34" charset="0"/>
                <a:ea typeface="Roboto Condensed" pitchFamily="34" charset="-122"/>
                <a:cs typeface="Roboto Condensed" pitchFamily="34" charset="-120"/>
              </a:rPr>
              <a:t>HOUR() for time extraction</a:t>
            </a:r>
            <a:endParaRPr lang="en-US" sz="800" dirty="0"/>
          </a:p>
        </p:txBody>
      </p:sp>
      <p:sp>
        <p:nvSpPr>
          <p:cNvPr id="37" name="Text 29"/>
          <p:cNvSpPr/>
          <p:nvPr/>
        </p:nvSpPr>
        <p:spPr>
          <a:xfrm>
            <a:off x="816451" y="5545534"/>
            <a:ext cx="11323354" cy="134342"/>
          </a:xfrm>
          <a:prstGeom prst="rect">
            <a:avLst/>
          </a:prstGeom>
          <a:noFill/>
          <a:ln/>
        </p:spPr>
        <p:txBody>
          <a:bodyPr wrap="none" lIns="0" tIns="0" rIns="0" bIns="0" rtlCol="0" anchor="t"/>
          <a:lstStyle/>
          <a:p>
            <a:pPr algn="l" indent="0" marL="0">
              <a:lnSpc>
                <a:spcPct val="108000"/>
              </a:lnSpc>
              <a:buNone/>
            </a:pPr>
            <a:r>
              <a:rPr lang="en-US" sz="800" b="1" dirty="0">
                <a:solidFill>
                  <a:srgbClr val="55575A"/>
                </a:solidFill>
                <a:latin typeface="Roboto Condensed Bold" pitchFamily="34" charset="0"/>
                <a:ea typeface="Roboto Condensed Bold" pitchFamily="34" charset="-122"/>
                <a:cs typeface="Roboto Condensed Bold" pitchFamily="34" charset="-120"/>
              </a:rPr>
              <a:t>From SQL Queries to Business Decisions</a:t>
            </a:r>
            <a:pPr algn="l" indent="0" marL="0">
              <a:lnSpc>
                <a:spcPct val="108000"/>
              </a:lnSpc>
              <a:buNone/>
            </a:pPr>
            <a:r>
              <a:rPr lang="en-US" sz="800" dirty="0">
                <a:solidFill>
                  <a:srgbClr val="55575A"/>
                </a:solidFill>
                <a:latin typeface="Roboto Condensed" pitchFamily="34" charset="0"/>
                <a:ea typeface="Roboto Condensed" pitchFamily="34" charset="-122"/>
                <a:cs typeface="Roboto Condensed" pitchFamily="34" charset="-120"/>
              </a:rPr>
              <a:t> — This project demonstrates how raw pizza sales data can be transformed into useful business insights. A strong data analyst connects technical SQL skills with actionable business recommendations.</a:t>
            </a:r>
            <a:endParaRPr lang="en-US" sz="800" dirty="0"/>
          </a:p>
        </p:txBody>
      </p:sp>
      <p:sp>
        <p:nvSpPr>
          <p:cNvPr id="38" name="Shape 30"/>
          <p:cNvSpPr/>
          <p:nvPr/>
        </p:nvSpPr>
        <p:spPr>
          <a:xfrm>
            <a:off x="661475" y="5472906"/>
            <a:ext cx="12700" cy="279598"/>
          </a:xfrm>
          <a:prstGeom prst="roundRect">
            <a:avLst>
              <a:gd name="adj" fmla="val 49999"/>
            </a:avLst>
          </a:prstGeom>
          <a:solidFill>
            <a:srgbClr val="1E1E1A"/>
          </a:solidFill>
          <a:ln/>
        </p:spPr>
      </p:sp>
      <p:sp>
        <p:nvSpPr>
          <p:cNvPr id="39" name="Shape 31"/>
          <p:cNvSpPr/>
          <p:nvPr/>
        </p:nvSpPr>
        <p:spPr>
          <a:xfrm>
            <a:off x="661475" y="5825133"/>
            <a:ext cx="10868745" cy="308670"/>
          </a:xfrm>
          <a:prstGeom prst="roundRect">
            <a:avLst>
              <a:gd name="adj" fmla="val 5023"/>
            </a:avLst>
          </a:prstGeom>
          <a:solidFill>
            <a:srgbClr val="E7E7E4"/>
          </a:solidFill>
          <a:ln/>
        </p:spPr>
      </p:sp>
      <p:pic>
        <p:nvPicPr>
          <p:cNvPr id="40" name="Image 6" descr="preencoded.png">    </p:cNvPr>
          <p:cNvPicPr>
            <a:picLocks noChangeAspect="1"/>
          </p:cNvPicPr>
          <p:nvPr/>
        </p:nvPicPr>
        <p:blipFill>
          <a:blip r:embed="rId13"/>
          <a:stretch>
            <a:fillRect/>
          </a:stretch>
        </p:blipFill>
        <p:spPr>
          <a:xfrm>
            <a:off x="764759" y="5920383"/>
            <a:ext cx="129180" cy="103287"/>
          </a:xfrm>
          <a:prstGeom prst="rect">
            <a:avLst/>
          </a:prstGeom>
        </p:spPr>
      </p:pic>
      <p:sp>
        <p:nvSpPr>
          <p:cNvPr id="41" name="Text 32"/>
          <p:cNvSpPr/>
          <p:nvPr/>
        </p:nvSpPr>
        <p:spPr>
          <a:xfrm>
            <a:off x="997223" y="5915521"/>
            <a:ext cx="11039298" cy="134342"/>
          </a:xfrm>
          <a:prstGeom prst="rect">
            <a:avLst/>
          </a:prstGeom>
          <a:noFill/>
          <a:ln/>
        </p:spPr>
        <p:txBody>
          <a:bodyPr wrap="none" lIns="0" tIns="0" rIns="0" bIns="0" rtlCol="0" anchor="t"/>
          <a:lstStyle/>
          <a:p>
            <a:pPr algn="l" indent="0" marL="0">
              <a:lnSpc>
                <a:spcPct val="108000"/>
              </a:lnSpc>
              <a:buNone/>
            </a:pPr>
            <a:r>
              <a:rPr lang="en-US" sz="800" b="1" dirty="0">
                <a:solidFill>
                  <a:srgbClr val="000000"/>
                </a:solidFill>
                <a:latin typeface="Roboto Condensed Bold" pitchFamily="34" charset="0"/>
                <a:ea typeface="Roboto Condensed Bold" pitchFamily="34" charset="-122"/>
                <a:cs typeface="Roboto Condensed Bold" pitchFamily="34" charset="-120"/>
              </a:rPr>
              <a:t>Next Step:</a:t>
            </a:r>
            <a:pPr algn="l" indent="0" marL="0">
              <a:lnSpc>
                <a:spcPct val="108000"/>
              </a:lnSpc>
              <a:buNone/>
            </a:pPr>
            <a:r>
              <a:rPr lang="en-US" sz="800" dirty="0">
                <a:solidFill>
                  <a:srgbClr val="000000"/>
                </a:solidFill>
                <a:latin typeface="Roboto Condensed" pitchFamily="34" charset="0"/>
                <a:ea typeface="Roboto Condensed" pitchFamily="34" charset="-122"/>
                <a:cs typeface="Roboto Condensed" pitchFamily="34" charset="-120"/>
              </a:rPr>
              <a:t> Build an interactive Power BI dashboard from these SQL results.</a:t>
            </a:r>
            <a:endParaRPr lang="en-US" sz="800" dirty="0"/>
          </a:p>
        </p:txBody>
      </p:sp>
      <p:sp>
        <p:nvSpPr>
          <p:cNvPr id="42" name="Text 33"/>
          <p:cNvSpPr/>
          <p:nvPr/>
        </p:nvSpPr>
        <p:spPr>
          <a:xfrm>
            <a:off x="661475" y="6206430"/>
            <a:ext cx="11478330" cy="134342"/>
          </a:xfrm>
          <a:prstGeom prst="rect">
            <a:avLst/>
          </a:prstGeom>
          <a:noFill/>
          <a:ln/>
        </p:spPr>
        <p:txBody>
          <a:bodyPr wrap="none" lIns="0" tIns="0" rIns="0" bIns="0" rtlCol="0" anchor="t"/>
          <a:lstStyle/>
          <a:p>
            <a:pPr algn="l" indent="0" marL="0">
              <a:lnSpc>
                <a:spcPct val="108000"/>
              </a:lnSpc>
              <a:buNone/>
            </a:pPr>
            <a:r>
              <a:rPr lang="en-US" sz="800" b="1" dirty="0">
                <a:solidFill>
                  <a:srgbClr val="55575A"/>
                </a:solidFill>
                <a:latin typeface="Roboto Condensed Bold" pitchFamily="34" charset="0"/>
                <a:ea typeface="Roboto Condensed Bold" pitchFamily="34" charset="-122"/>
                <a:cs typeface="Roboto Condensed Bold" pitchFamily="34" charset="-120"/>
              </a:rPr>
              <a:t>BAJRANG MAHLI</a:t>
            </a:r>
            <a:pPr algn="l" indent="0" marL="0">
              <a:lnSpc>
                <a:spcPct val="108000"/>
              </a:lnSpc>
              <a:buNone/>
            </a:pPr>
            <a:r>
              <a:rPr lang="en-US" sz="800" dirty="0">
                <a:solidFill>
                  <a:srgbClr val="55575A"/>
                </a:solidFill>
                <a:latin typeface="Roboto Condensed" pitchFamily="34" charset="0"/>
                <a:ea typeface="Roboto Condensed" pitchFamily="34" charset="-122"/>
                <a:cs typeface="Roboto Condensed" pitchFamily="34" charset="-120"/>
              </a:rPr>
              <a:t>| Data Analytics | SQL | Power BI | Excel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2026-09-03T12:00:58Z</dcterms:created>
  <dcterms:modified xsi:type="dcterms:W3CDTF">2026-09-03T12:00:58Z</dcterms:modified>
</cp:coreProperties>
</file>